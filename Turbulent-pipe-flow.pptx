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55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10302" y="242442"/>
            <a:ext cx="17713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5494" y="268351"/>
            <a:ext cx="962101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55291" y="2879344"/>
            <a:ext cx="7281545" cy="2020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07011" y="6601231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11" Type="http://schemas.openxmlformats.org/officeDocument/2006/relationships/image" Target="../media/image9.jp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jp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12" Type="http://schemas.openxmlformats.org/officeDocument/2006/relationships/image" Target="../media/image3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5.jpg"/><Relationship Id="rId7" Type="http://schemas.openxmlformats.org/officeDocument/2006/relationships/image" Target="../media/image3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0.jpg"/><Relationship Id="rId5" Type="http://schemas.openxmlformats.org/officeDocument/2006/relationships/image" Target="../media/image35.png"/><Relationship Id="rId10" Type="http://schemas.openxmlformats.org/officeDocument/2006/relationships/image" Target="../media/image39.jpg"/><Relationship Id="rId4" Type="http://schemas.openxmlformats.org/officeDocument/2006/relationships/image" Target="../media/image34.png"/><Relationship Id="rId9" Type="http://schemas.openxmlformats.org/officeDocument/2006/relationships/image" Target="../media/image3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33.jp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6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50.jp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50.jp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jpg"/><Relationship Id="rId4" Type="http://schemas.openxmlformats.org/officeDocument/2006/relationships/image" Target="../media/image103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01085" y="753617"/>
            <a:ext cx="61849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b="1">
                <a:solidFill>
                  <a:srgbClr val="000000"/>
                </a:solidFill>
                <a:latin typeface="Calibri"/>
              </a:rPr>
              <a:t>CFD Study &amp; Validation of Turbulent Pipe Flow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7200" y="4038600"/>
            <a:ext cx="4267200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Turbulence Model and Y+ Study</a:t>
            </a:r>
            <a:endParaRPr sz="1800" dirty="0">
              <a:latin typeface="Calibri"/>
              <a:cs typeface="Calibri"/>
            </a:endParaRPr>
          </a:p>
          <a:p>
            <a:pPr algn="ctr"/>
            <a:r>
              <a:rPr sz="1800" b="1">
                <a:solidFill>
                  <a:srgbClr val="003366"/>
                </a:solidFill>
                <a:latin typeface="Calibri"/>
              </a:rPr>
              <a:t>Validation of Various Empirical Correlations</a:t>
            </a:r>
          </a:p>
        </p:txBody>
      </p:sp>
      <p:sp>
        <p:nvSpPr>
          <p:cNvPr id="6" name="AuthorTextBox"/>
          <p:cNvSpPr txBox="1"/>
          <p:nvPr/>
        </p:nvSpPr>
        <p:spPr>
          <a:xfrm>
            <a:off x="4307738" y="5486400"/>
            <a:ext cx="3576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3366"/>
                </a:solidFill>
                <a:latin typeface="Calibri"/>
              </a:rPr>
              <a:t>Prepared by: Prashant Kamble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193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Problem</a:t>
            </a:r>
            <a:r>
              <a:rPr spc="-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Description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5669" y="1509764"/>
            <a:ext cx="5908040" cy="102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Flow Regime &amp; Geometry: </a:t>
            </a:r>
            <a:endParaRPr lang="en-US" sz="1600" b="0" dirty="0">
              <a:solidFill>
                <a:srgbClr val="000000"/>
              </a:solidFill>
              <a:latin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endParaRPr lang="en-US" sz="1600" dirty="0">
              <a:solidFill>
                <a:srgbClr val="000000"/>
              </a:solidFill>
              <a:latin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Turbulent flow simulation at Re = 10,000 in a pipe of length L = 16 m and diameter D = 0.2 m (L/D = 80).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5669" y="2655823"/>
            <a:ext cx="4079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Fluid Properties: Operating velocity V = 1.0 m/s, fluid density ρ = 1,000 kg/m³, and dynamic viscosity μ = 0.02 </a:t>
            </a:r>
            <a:r>
              <a:rPr sz="1600" b="0" dirty="0" err="1">
                <a:solidFill>
                  <a:srgbClr val="000000"/>
                </a:solidFill>
                <a:latin typeface="Calibri"/>
              </a:rPr>
              <a:t>Pa·s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4231" y="3540698"/>
            <a:ext cx="71443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3880" indent="-52578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63880" algn="l"/>
              </a:tabLst>
            </a:pPr>
            <a:r>
              <a:rPr sz="1800" b="1" dirty="0">
                <a:solidFill>
                  <a:srgbClr val="003366"/>
                </a:solidFill>
                <a:latin typeface="Calibri"/>
              </a:rPr>
              <a:t>Key Objectives: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5669" y="3946402"/>
            <a:ext cx="78473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Compute and analyze radial velocity profiles, axial pressure drop, Darcy friction factor (f), and skin friction coefficient (Cf).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231" y="4556053"/>
            <a:ext cx="62058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Validate numerical results against analytical solutions and empirical correlations.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5669" y="5165704"/>
            <a:ext cx="757300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1600" b="0" dirty="0">
                <a:solidFill>
                  <a:srgbClr val="000000"/>
                </a:solidFill>
                <a:latin typeface="Calibri"/>
              </a:rPr>
              <a:t>Post-process the flow field using velocity vectors, pressure contours, and wall Y+ distributions.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249534" y="2180513"/>
            <a:ext cx="1527175" cy="842010"/>
            <a:chOff x="10249534" y="2180513"/>
            <a:chExt cx="1527175" cy="842010"/>
          </a:xfrm>
        </p:grpSpPr>
        <p:sp>
          <p:nvSpPr>
            <p:cNvPr id="11" name="object 11"/>
            <p:cNvSpPr/>
            <p:nvPr/>
          </p:nvSpPr>
          <p:spPr>
            <a:xfrm>
              <a:off x="10249534" y="2180513"/>
              <a:ext cx="1527175" cy="842010"/>
            </a:xfrm>
            <a:custGeom>
              <a:avLst/>
              <a:gdLst/>
              <a:ahLst/>
              <a:cxnLst/>
              <a:rect l="l" t="t" r="r" b="b"/>
              <a:pathLst>
                <a:path w="1527175" h="842010">
                  <a:moveTo>
                    <a:pt x="1527048" y="0"/>
                  </a:moveTo>
                  <a:lnTo>
                    <a:pt x="0" y="0"/>
                  </a:lnTo>
                  <a:lnTo>
                    <a:pt x="0" y="841578"/>
                  </a:lnTo>
                  <a:lnTo>
                    <a:pt x="1527048" y="841578"/>
                  </a:lnTo>
                  <a:lnTo>
                    <a:pt x="152704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83162" y="2608706"/>
              <a:ext cx="582295" cy="20320"/>
            </a:xfrm>
            <a:custGeom>
              <a:avLst/>
              <a:gdLst/>
              <a:ahLst/>
              <a:cxnLst/>
              <a:rect l="l" t="t" r="r" b="b"/>
              <a:pathLst>
                <a:path w="582295" h="20319">
                  <a:moveTo>
                    <a:pt x="582167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582167" y="19812"/>
                  </a:lnTo>
                  <a:lnTo>
                    <a:pt x="5821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249534" y="2180513"/>
            <a:ext cx="1527175" cy="842010"/>
          </a:xfrm>
          <a:prstGeom prst="rect">
            <a:avLst/>
          </a:prstGeom>
          <a:ln w="571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5025">
              <a:lnSpc>
                <a:spcPts val="2265"/>
              </a:lnSpc>
            </a:pPr>
            <a:r>
              <a:rPr sz="2400" spc="-25" dirty="0">
                <a:latin typeface="Cambria Math"/>
                <a:cs typeface="Cambria Math"/>
              </a:rPr>
              <a:t>𝜌𝑉𝐷</a:t>
            </a:r>
            <a:endParaRPr sz="2400">
              <a:latin typeface="Cambria Math"/>
              <a:cs typeface="Cambria Math"/>
            </a:endParaRPr>
          </a:p>
          <a:p>
            <a:pPr marL="111125">
              <a:lnSpc>
                <a:spcPts val="2345"/>
              </a:lnSpc>
              <a:tabLst>
                <a:tab pos="1037590" algn="l"/>
              </a:tabLst>
            </a:pPr>
            <a:r>
              <a:rPr sz="2400" dirty="0">
                <a:latin typeface="Cambria Math"/>
                <a:cs typeface="Cambria Math"/>
              </a:rPr>
              <a:t>𝑅</a:t>
            </a:r>
            <a:r>
              <a:rPr sz="2625" baseline="-15873" dirty="0">
                <a:latin typeface="Cambria Math"/>
                <a:cs typeface="Cambria Math"/>
              </a:rPr>
              <a:t>𝑒</a:t>
            </a:r>
            <a:r>
              <a:rPr sz="2625" spc="697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3600" spc="-75" baseline="-37037" dirty="0">
                <a:latin typeface="Cambria Math"/>
                <a:cs typeface="Cambria Math"/>
              </a:rPr>
              <a:t>𝜇</a:t>
            </a:r>
            <a:endParaRPr sz="3600" baseline="-37037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77093" y="5392318"/>
            <a:ext cx="1511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solidFill>
                  <a:srgbClr val="006FC0"/>
                </a:solidFill>
                <a:latin typeface="Cambria Math"/>
                <a:cs typeface="Cambria Math"/>
              </a:rPr>
              <a:t>𝒇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86593" y="5247208"/>
            <a:ext cx="7156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4345" algn="l"/>
              </a:tabLst>
            </a:pPr>
            <a:r>
              <a:rPr sz="2400" spc="-50" dirty="0">
                <a:solidFill>
                  <a:srgbClr val="006FC0"/>
                </a:solidFill>
                <a:latin typeface="Cambria Math"/>
                <a:cs typeface="Cambria Math"/>
              </a:rPr>
              <a:t>𝑪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872216" y="5467984"/>
            <a:ext cx="1056640" cy="20320"/>
          </a:xfrm>
          <a:custGeom>
            <a:avLst/>
            <a:gdLst/>
            <a:ahLst/>
            <a:cxnLst/>
            <a:rect l="l" t="t" r="r" b="b"/>
            <a:pathLst>
              <a:path w="1056640" h="20320">
                <a:moveTo>
                  <a:pt x="1056131" y="0"/>
                </a:moveTo>
                <a:lnTo>
                  <a:pt x="0" y="0"/>
                </a:lnTo>
                <a:lnTo>
                  <a:pt x="0" y="19811"/>
                </a:lnTo>
                <a:lnTo>
                  <a:pt x="1056131" y="19811"/>
                </a:lnTo>
                <a:lnTo>
                  <a:pt x="105613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192256" y="5017389"/>
            <a:ext cx="4070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6FC0"/>
                </a:solidFill>
                <a:latin typeface="Cambria Math"/>
                <a:cs typeface="Cambria Math"/>
              </a:rPr>
              <a:t>𝝉</a:t>
            </a:r>
            <a:r>
              <a:rPr sz="2625" spc="-37" baseline="-15873" dirty="0">
                <a:solidFill>
                  <a:srgbClr val="006FC0"/>
                </a:solidFill>
                <a:latin typeface="Cambria Math"/>
                <a:cs typeface="Cambria Math"/>
              </a:rPr>
              <a:t>𝒘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61040" y="5414873"/>
            <a:ext cx="208279" cy="72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50"/>
              </a:lnSpc>
              <a:spcBef>
                <a:spcPts val="100"/>
              </a:spcBef>
            </a:pP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750"/>
              </a:lnSpc>
            </a:pPr>
            <a:r>
              <a:rPr sz="240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94211" y="5593791"/>
            <a:ext cx="412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6FC0"/>
                </a:solidFill>
                <a:latin typeface="Cambria Math"/>
                <a:cs typeface="Cambria Math"/>
              </a:rPr>
              <a:t>𝝆𝑽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81307" y="5562701"/>
            <a:ext cx="44958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739"/>
              </a:lnSpc>
              <a:spcBef>
                <a:spcPts val="105"/>
              </a:spcBef>
            </a:pPr>
            <a:r>
              <a:rPr sz="17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  <a:p>
            <a:pPr marL="12700">
              <a:lnSpc>
                <a:spcPts val="1739"/>
              </a:lnSpc>
            </a:pPr>
            <a:r>
              <a:rPr sz="1750" spc="-25" dirty="0">
                <a:solidFill>
                  <a:srgbClr val="006FC0"/>
                </a:solidFill>
                <a:latin typeface="Cambria Math"/>
                <a:cs typeface="Cambria Math"/>
              </a:rPr>
              <a:t>𝒂𝒗𝒈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38535" y="3856735"/>
            <a:ext cx="696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𝐶𝑓</a:t>
            </a:r>
            <a:r>
              <a:rPr sz="2400" spc="18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405743" y="4077334"/>
            <a:ext cx="177165" cy="20320"/>
          </a:xfrm>
          <a:custGeom>
            <a:avLst/>
            <a:gdLst/>
            <a:ahLst/>
            <a:cxnLst/>
            <a:rect l="l" t="t" r="r" b="b"/>
            <a:pathLst>
              <a:path w="177165" h="20320">
                <a:moveTo>
                  <a:pt x="176783" y="0"/>
                </a:moveTo>
                <a:lnTo>
                  <a:pt x="0" y="0"/>
                </a:lnTo>
                <a:lnTo>
                  <a:pt x="0" y="19812"/>
                </a:lnTo>
                <a:lnTo>
                  <a:pt x="176783" y="19812"/>
                </a:lnTo>
                <a:lnTo>
                  <a:pt x="17678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394440" y="3558032"/>
            <a:ext cx="19875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8700"/>
              </a:lnSpc>
              <a:spcBef>
                <a:spcPts val="100"/>
              </a:spcBef>
            </a:pPr>
            <a:r>
              <a:rPr sz="2400" spc="-50" dirty="0">
                <a:solidFill>
                  <a:srgbClr val="006FC0"/>
                </a:solidFill>
                <a:latin typeface="Cambria Math"/>
                <a:cs typeface="Cambria Math"/>
              </a:rPr>
              <a:t>𝑓 4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118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Turbulent</a:t>
            </a:r>
            <a:r>
              <a:rPr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Pipe</a:t>
            </a:r>
            <a:r>
              <a:rPr spc="-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Flow</a:t>
            </a:r>
            <a:r>
              <a:rPr spc="-3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-</a:t>
            </a:r>
            <a:r>
              <a:rPr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Theory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2295" y="1174749"/>
            <a:ext cx="10852785" cy="6286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Flow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laminar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turbulent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Reynolds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number,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ratio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inertial forces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viscous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forces.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2295" y="4202048"/>
            <a:ext cx="8305165" cy="181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Flow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laminar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2300,,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turbulent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4000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8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Laminar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stream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moving 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manner.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However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turbulent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flow,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spc="-10" dirty="0">
                <a:latin typeface="Calibri"/>
                <a:cs typeface="Calibri"/>
              </a:rPr>
              <a:t>characterized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chaotic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movement.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035" y="1979676"/>
            <a:ext cx="4535805" cy="18271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4032" y="986282"/>
            <a:ext cx="2955798" cy="25411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70365" y="3806837"/>
            <a:ext cx="2915538" cy="24066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0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88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Turbulent</a:t>
            </a:r>
            <a:r>
              <a:rPr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Pipe</a:t>
            </a:r>
            <a:r>
              <a:rPr spc="-4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Flow</a:t>
            </a:r>
            <a:r>
              <a:rPr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–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Theory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2295" y="964184"/>
            <a:ext cx="10321925" cy="95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Fully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developed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flow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entrance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length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Flow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said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fully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developed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axial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velocity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change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axial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location.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 descr="Related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0164" y="2187701"/>
            <a:ext cx="5559297" cy="1968627"/>
          </a:xfrm>
          <a:prstGeom prst="rect">
            <a:avLst/>
          </a:prstGeom>
        </p:spPr>
      </p:pic>
      <p:pic>
        <p:nvPicPr>
          <p:cNvPr id="5" name="object 5" descr="Screen Clippi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5547" y="2723835"/>
            <a:ext cx="2522139" cy="4769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49913" y="3593134"/>
            <a:ext cx="2656521" cy="3060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0986" y="4786121"/>
            <a:ext cx="1026731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correlations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approximations,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practically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margin.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these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correlations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direction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guide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look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30986" y="5882741"/>
            <a:ext cx="4027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practical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CFD,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entrance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length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7677" y="5882741"/>
            <a:ext cx="467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current</a:t>
            </a:r>
            <a:r>
              <a:rPr sz="18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case,</a:t>
            </a:r>
            <a:r>
              <a:rPr sz="18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flow</a:t>
            </a:r>
            <a:r>
              <a:rPr sz="18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will</a:t>
            </a:r>
            <a:r>
              <a:rPr sz="18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be</a:t>
            </a:r>
            <a:r>
              <a:rPr sz="18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fully</a:t>
            </a:r>
            <a:r>
              <a:rPr sz="18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developed</a:t>
            </a:r>
            <a:r>
              <a:rPr sz="18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after </a:t>
            </a:r>
            <a:r>
              <a:rPr sz="1800" dirty="0">
                <a:latin typeface="Calibri"/>
                <a:cs typeface="Calibri"/>
              </a:rPr>
              <a:t>L/D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13.59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L =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13.59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sz="1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0.2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b="1" spc="40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2.718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8475" y="5464390"/>
            <a:ext cx="2422525" cy="36957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 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0.2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96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Analytical</a:t>
            </a:r>
            <a:r>
              <a:rPr spc="-10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and</a:t>
            </a:r>
            <a:r>
              <a:rPr spc="-10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semi-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empirical</a:t>
            </a:r>
            <a:r>
              <a:rPr spc="-10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5120" y="1120520"/>
            <a:ext cx="9296400" cy="13176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64160" marR="30480" indent="-226695">
              <a:lnSpc>
                <a:spcPts val="1920"/>
              </a:lnSpc>
              <a:spcBef>
                <a:spcPts val="565"/>
              </a:spcBef>
              <a:buFont typeface="Arial MT"/>
              <a:buChar char="•"/>
              <a:tabLst>
                <a:tab pos="26606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10000,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density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Kg/m</a:t>
            </a:r>
            <a:r>
              <a:rPr sz="1950" baseline="25641" dirty="0">
                <a:latin typeface="Calibri"/>
                <a:cs typeface="Calibri"/>
              </a:rPr>
              <a:t>3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0.2m,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</a:t>
            </a:r>
            <a:r>
              <a:rPr sz="1950" baseline="-21367" dirty="0">
                <a:latin typeface="Calibri"/>
                <a:cs typeface="Calibri"/>
              </a:rPr>
              <a:t>mean</a:t>
            </a:r>
            <a:r>
              <a:rPr sz="1950" spc="20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m/s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	</a:t>
            </a:r>
            <a:r>
              <a:rPr sz="2000" dirty="0">
                <a:latin typeface="Calibri"/>
                <a:cs typeface="Calibri"/>
              </a:rPr>
              <a:t>dynamic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viscosity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𝜇</a:t>
            </a:r>
            <a:r>
              <a:rPr sz="2000" spc="135" dirty="0">
                <a:latin typeface="Cambria Math"/>
                <a:cs typeface="Cambria Math"/>
              </a:rPr>
              <a:t> </a:t>
            </a:r>
            <a:r>
              <a:rPr sz="2000" spc="-15" dirty="0">
                <a:latin typeface="Cambria Math"/>
                <a:cs typeface="Cambria Math"/>
              </a:rPr>
              <a:t>=</a:t>
            </a:r>
            <a:r>
              <a:rPr sz="2000" spc="-1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0.02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Pa.S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pipe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16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9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64795" indent="-2266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64795" algn="l"/>
              </a:tabLst>
            </a:pPr>
            <a:r>
              <a:rPr sz="2000" dirty="0">
                <a:latin typeface="Calibri"/>
                <a:cs typeface="Calibri"/>
              </a:rPr>
              <a:t>Flow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fully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(theoretically)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L/D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13.59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13.59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0.2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2.718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3954" y="4190491"/>
            <a:ext cx="5748655" cy="49275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685925" marR="5080" indent="-1673860">
              <a:lnSpc>
                <a:spcPts val="1630"/>
              </a:lnSpc>
              <a:spcBef>
                <a:spcPts val="500"/>
              </a:spcBef>
            </a:pPr>
            <a:r>
              <a:rPr sz="1700" dirty="0">
                <a:latin typeface="Calibri"/>
                <a:cs typeface="Calibri"/>
              </a:rPr>
              <a:t>(you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also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value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friction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factor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from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moody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diagram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for </a:t>
            </a:r>
            <a:r>
              <a:rPr sz="1700" dirty="0">
                <a:latin typeface="Calibri"/>
                <a:cs typeface="Calibri"/>
              </a:rPr>
              <a:t>given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Reynolds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number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roughness…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spc="-50" dirty="0">
                <a:latin typeface="Calibri"/>
                <a:cs typeface="Calibri"/>
              </a:rPr>
              <a:t>)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07245" y="1639393"/>
            <a:ext cx="2343486" cy="3721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58910" y="2777794"/>
            <a:ext cx="3050921" cy="8113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0758" y="5418150"/>
            <a:ext cx="1929764" cy="88150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462779" y="5689028"/>
            <a:ext cx="923925" cy="224154"/>
            <a:chOff x="4462779" y="5689028"/>
            <a:chExt cx="923925" cy="224154"/>
          </a:xfrm>
        </p:grpSpPr>
        <p:sp>
          <p:nvSpPr>
            <p:cNvPr id="10" name="object 10"/>
            <p:cNvSpPr/>
            <p:nvPr/>
          </p:nvSpPr>
          <p:spPr>
            <a:xfrm>
              <a:off x="4462779" y="5896406"/>
              <a:ext cx="923925" cy="17145"/>
            </a:xfrm>
            <a:custGeom>
              <a:avLst/>
              <a:gdLst/>
              <a:ahLst/>
              <a:cxnLst/>
              <a:rect l="l" t="t" r="r" b="b"/>
              <a:pathLst>
                <a:path w="923925" h="17145">
                  <a:moveTo>
                    <a:pt x="923544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923544" y="16764"/>
                  </a:lnTo>
                  <a:lnTo>
                    <a:pt x="9235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4439" y="5689028"/>
              <a:ext cx="228981" cy="172212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5680455" y="5896406"/>
            <a:ext cx="254635" cy="17145"/>
          </a:xfrm>
          <a:custGeom>
            <a:avLst/>
            <a:gdLst/>
            <a:ahLst/>
            <a:cxnLst/>
            <a:rect l="l" t="t" r="r" b="b"/>
            <a:pathLst>
              <a:path w="254635" h="17145">
                <a:moveTo>
                  <a:pt x="254508" y="0"/>
                </a:moveTo>
                <a:lnTo>
                  <a:pt x="0" y="0"/>
                </a:lnTo>
                <a:lnTo>
                  <a:pt x="0" y="16764"/>
                </a:lnTo>
                <a:lnTo>
                  <a:pt x="254508" y="16764"/>
                </a:lnTo>
                <a:lnTo>
                  <a:pt x="2545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07820" y="5116779"/>
            <a:ext cx="6433820" cy="10394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20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52095" algn="l"/>
              </a:tabLst>
            </a:pPr>
            <a:r>
              <a:rPr sz="2000" dirty="0">
                <a:latin typeface="Calibri"/>
                <a:cs typeface="Calibri"/>
              </a:rPr>
              <a:t>I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pressure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drop/loss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Darcy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formula</a:t>
            </a:r>
            <a:endParaRPr sz="2000">
              <a:latin typeface="Calibri"/>
              <a:cs typeface="Calibri"/>
            </a:endParaRPr>
          </a:p>
          <a:p>
            <a:pPr marL="3255010">
              <a:lnSpc>
                <a:spcPts val="1185"/>
              </a:lnSpc>
              <a:spcBef>
                <a:spcPts val="1650"/>
              </a:spcBef>
              <a:tabLst>
                <a:tab pos="4491355" algn="l"/>
              </a:tabLst>
            </a:pPr>
            <a:r>
              <a:rPr sz="1450" dirty="0">
                <a:latin typeface="Cambria Math"/>
                <a:cs typeface="Cambria Math"/>
              </a:rPr>
              <a:t>1000×</a:t>
            </a:r>
            <a:r>
              <a:rPr sz="1450" spc="400" dirty="0">
                <a:latin typeface="Cambria Math"/>
                <a:cs typeface="Cambria Math"/>
              </a:rPr>
              <a:t> </a:t>
            </a:r>
            <a:r>
              <a:rPr sz="1450" dirty="0">
                <a:latin typeface="Cambria Math"/>
                <a:cs typeface="Cambria Math"/>
              </a:rPr>
              <a:t>1</a:t>
            </a:r>
            <a:r>
              <a:rPr sz="1450" spc="400" dirty="0">
                <a:latin typeface="Cambria Math"/>
                <a:cs typeface="Cambria Math"/>
              </a:rPr>
              <a:t> </a:t>
            </a:r>
            <a:r>
              <a:rPr sz="1800" spc="-75" baseline="25462" dirty="0">
                <a:latin typeface="Cambria Math"/>
                <a:cs typeface="Cambria Math"/>
              </a:rPr>
              <a:t>2</a:t>
            </a:r>
            <a:r>
              <a:rPr sz="1800" baseline="25462" dirty="0">
                <a:latin typeface="Cambria Math"/>
                <a:cs typeface="Cambria Math"/>
              </a:rPr>
              <a:t>	</a:t>
            </a:r>
            <a:r>
              <a:rPr sz="1450" spc="-25" dirty="0">
                <a:latin typeface="Cambria Math"/>
                <a:cs typeface="Cambria Math"/>
              </a:rPr>
              <a:t>16</a:t>
            </a:r>
            <a:endParaRPr sz="1450">
              <a:latin typeface="Cambria Math"/>
              <a:cs typeface="Cambria Math"/>
            </a:endParaRPr>
          </a:p>
          <a:p>
            <a:pPr marL="246379">
              <a:lnSpc>
                <a:spcPts val="1420"/>
              </a:lnSpc>
              <a:tabLst>
                <a:tab pos="4235450" algn="l"/>
                <a:tab pos="4797425" algn="l"/>
              </a:tabLst>
            </a:pPr>
            <a:r>
              <a:rPr sz="2000" spc="-10" dirty="0">
                <a:latin typeface="Calibri"/>
                <a:cs typeface="Calibri"/>
              </a:rPr>
              <a:t>Pressure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drop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0.030866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×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×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1234.64</a:t>
            </a:r>
            <a:r>
              <a:rPr sz="2000" spc="39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𝑃𝑎</a:t>
            </a:r>
            <a:endParaRPr sz="2000">
              <a:latin typeface="Cambria Math"/>
              <a:cs typeface="Cambria Math"/>
            </a:endParaRPr>
          </a:p>
          <a:p>
            <a:pPr marL="3662045">
              <a:lnSpc>
                <a:spcPts val="1320"/>
              </a:lnSpc>
              <a:tabLst>
                <a:tab pos="4472940" algn="l"/>
              </a:tabLst>
            </a:pPr>
            <a:r>
              <a:rPr sz="1450" spc="-50" dirty="0">
                <a:latin typeface="Cambria Math"/>
                <a:cs typeface="Cambria Math"/>
              </a:rPr>
              <a:t>2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25" dirty="0">
                <a:latin typeface="Cambria Math"/>
                <a:cs typeface="Cambria Math"/>
              </a:rPr>
              <a:t>0.2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44355" y="4560442"/>
            <a:ext cx="879475" cy="17145"/>
          </a:xfrm>
          <a:custGeom>
            <a:avLst/>
            <a:gdLst/>
            <a:ahLst/>
            <a:cxnLst/>
            <a:rect l="l" t="t" r="r" b="b"/>
            <a:pathLst>
              <a:path w="879475" h="17145">
                <a:moveTo>
                  <a:pt x="879348" y="0"/>
                </a:moveTo>
                <a:lnTo>
                  <a:pt x="0" y="0"/>
                </a:lnTo>
                <a:lnTo>
                  <a:pt x="0" y="16763"/>
                </a:lnTo>
                <a:lnTo>
                  <a:pt x="879348" y="16763"/>
                </a:lnTo>
                <a:lnTo>
                  <a:pt x="8793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704831" y="4182871"/>
            <a:ext cx="352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FF0000"/>
                </a:solidFill>
                <a:latin typeface="Cambria Math"/>
                <a:cs typeface="Cambria Math"/>
              </a:rPr>
              <a:t>𝝉</a:t>
            </a:r>
            <a:r>
              <a:rPr sz="2175" spc="-37" baseline="-15325" dirty="0">
                <a:solidFill>
                  <a:srgbClr val="FF0000"/>
                </a:solidFill>
                <a:latin typeface="Cambria Math"/>
                <a:cs typeface="Cambria Math"/>
              </a:rPr>
              <a:t>𝒘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61221" y="4374896"/>
            <a:ext cx="8750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𝑪</a:t>
            </a:r>
            <a:r>
              <a:rPr sz="2175" baseline="-15325" dirty="0">
                <a:solidFill>
                  <a:srgbClr val="FF0000"/>
                </a:solidFill>
                <a:latin typeface="Cambria Math"/>
                <a:cs typeface="Cambria Math"/>
              </a:rPr>
              <a:t>𝒇</a:t>
            </a:r>
            <a:r>
              <a:rPr sz="2175" spc="232" baseline="-15325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u="sng" spc="-75" baseline="-305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 Math"/>
                <a:cs typeface="Cambria Math"/>
              </a:rPr>
              <a:t>𝟏</a:t>
            </a:r>
            <a:endParaRPr sz="3000" baseline="-30555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32797" y="4790947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51211" y="4783327"/>
            <a:ext cx="37846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25" dirty="0">
                <a:solidFill>
                  <a:srgbClr val="FF0000"/>
                </a:solidFill>
                <a:latin typeface="Cambria Math"/>
                <a:cs typeface="Cambria Math"/>
              </a:rPr>
              <a:t>𝒂𝒗𝒈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02723" y="4662932"/>
            <a:ext cx="5105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FF0000"/>
                </a:solidFill>
                <a:latin typeface="Cambria Math"/>
                <a:cs typeface="Cambria Math"/>
              </a:rPr>
              <a:t>𝝆𝑽</a:t>
            </a:r>
            <a:r>
              <a:rPr sz="2175" spc="-37" baseline="28735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10468" y="4430725"/>
            <a:ext cx="700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1F5F"/>
                </a:solidFill>
                <a:latin typeface="Cambria Math"/>
                <a:cs typeface="Cambria Math"/>
              </a:rPr>
              <a:t>𝑪𝒇</a:t>
            </a:r>
            <a:r>
              <a:rPr sz="2400" spc="13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380851" y="4651628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182879" y="0"/>
                </a:moveTo>
                <a:lnTo>
                  <a:pt x="0" y="0"/>
                </a:lnTo>
                <a:lnTo>
                  <a:pt x="0" y="19812"/>
                </a:lnTo>
                <a:lnTo>
                  <a:pt x="182879" y="19812"/>
                </a:lnTo>
                <a:lnTo>
                  <a:pt x="18287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369802" y="4132698"/>
            <a:ext cx="208279" cy="89408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635"/>
              </a:spcBef>
            </a:pPr>
            <a:r>
              <a:rPr sz="2400" spc="-50" dirty="0">
                <a:solidFill>
                  <a:srgbClr val="001F5F"/>
                </a:solidFill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400" spc="-50" dirty="0">
                <a:solidFill>
                  <a:srgbClr val="001F5F"/>
                </a:solidFill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48633" y="3605529"/>
            <a:ext cx="1041400" cy="15240"/>
          </a:xfrm>
          <a:custGeom>
            <a:avLst/>
            <a:gdLst/>
            <a:ahLst/>
            <a:cxnLst/>
            <a:rect l="l" t="t" r="r" b="b"/>
            <a:pathLst>
              <a:path w="1041400" h="15239">
                <a:moveTo>
                  <a:pt x="1040891" y="0"/>
                </a:moveTo>
                <a:lnTo>
                  <a:pt x="0" y="0"/>
                </a:lnTo>
                <a:lnTo>
                  <a:pt x="0" y="15240"/>
                </a:lnTo>
                <a:lnTo>
                  <a:pt x="1040891" y="15240"/>
                </a:lnTo>
                <a:lnTo>
                  <a:pt x="1040891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220520" y="2774953"/>
            <a:ext cx="6786880" cy="78930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Friction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factor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smooth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pipe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mbria Math"/>
                <a:cs typeface="Cambria Math"/>
              </a:rPr>
              <a:t>𝒇</a:t>
            </a:r>
            <a:r>
              <a:rPr sz="2000" spc="6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r>
              <a:rPr sz="2000" spc="7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ambria Math"/>
                <a:cs typeface="Cambria Math"/>
              </a:rPr>
              <a:t>𝟎.</a:t>
            </a:r>
            <a:r>
              <a:rPr sz="2000" spc="-11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ambria Math"/>
                <a:cs typeface="Cambria Math"/>
              </a:rPr>
              <a:t>𝟎𝟑𝟎𝟖𝟖𝟔</a:t>
            </a:r>
            <a:endParaRPr sz="2000">
              <a:latin typeface="Cambria Math"/>
              <a:cs typeface="Cambria Math"/>
            </a:endParaRPr>
          </a:p>
          <a:p>
            <a:pPr marR="77470" algn="ctr">
              <a:lnSpc>
                <a:spcPct val="100000"/>
              </a:lnSpc>
              <a:spcBef>
                <a:spcPts val="690"/>
              </a:spcBef>
            </a:pPr>
            <a:r>
              <a:rPr sz="1800" spc="-10" dirty="0">
                <a:solidFill>
                  <a:srgbClr val="001F5F"/>
                </a:solidFill>
                <a:latin typeface="Cambria Math"/>
                <a:cs typeface="Cambria Math"/>
              </a:rPr>
              <a:t>𝟎.</a:t>
            </a:r>
            <a:r>
              <a:rPr sz="1800" spc="-85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Cambria Math"/>
                <a:cs typeface="Cambria Math"/>
              </a:rPr>
              <a:t>𝟎𝟑𝟎𝟖𝟖𝟔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5" name="object 25"/>
          <p:cNvSpPr txBox="1"/>
          <p:nvPr/>
        </p:nvSpPr>
        <p:spPr>
          <a:xfrm>
            <a:off x="4487671" y="3590670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66591" y="3438270"/>
            <a:ext cx="3115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7195" algn="l"/>
              </a:tabLst>
            </a:pP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𝑪𝒇</a:t>
            </a:r>
            <a:r>
              <a:rPr sz="1800" spc="95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	=</a:t>
            </a:r>
            <a:r>
              <a:rPr sz="1800" spc="10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Cambria Math"/>
                <a:cs typeface="Cambria Math"/>
              </a:rPr>
              <a:t>𝟎.</a:t>
            </a:r>
            <a:r>
              <a:rPr sz="1800" spc="-95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Cambria Math"/>
                <a:cs typeface="Cambria Math"/>
              </a:rPr>
              <a:t>𝟎𝟎𝟕𝟕𝟐𝟏𝟓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96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Analytical</a:t>
            </a:r>
            <a:r>
              <a:rPr spc="-10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and</a:t>
            </a:r>
            <a:r>
              <a:rPr spc="-10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semi-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empirical</a:t>
            </a:r>
            <a:r>
              <a:rPr spc="-10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729" y="982091"/>
            <a:ext cx="2705100" cy="495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7640" y="986155"/>
            <a:ext cx="2581275" cy="8096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28611" y="1005458"/>
            <a:ext cx="2257425" cy="11525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3008" y="1829307"/>
            <a:ext cx="1409699" cy="857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99130" y="2038350"/>
            <a:ext cx="3390900" cy="4381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07931" y="1026286"/>
            <a:ext cx="2209800" cy="1152525"/>
          </a:xfrm>
          <a:prstGeom prst="rect">
            <a:avLst/>
          </a:prstGeom>
        </p:spPr>
      </p:pic>
      <p:pic>
        <p:nvPicPr>
          <p:cNvPr id="10" name="object 10" descr="TurbulentPipeFlow-moody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7650" y="3038475"/>
            <a:ext cx="5344033" cy="3352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53624" y="3228058"/>
            <a:ext cx="2144154" cy="223350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791136" y="5131104"/>
            <a:ext cx="4109720" cy="1135380"/>
            <a:chOff x="5791136" y="5131104"/>
            <a:chExt cx="4109720" cy="1135380"/>
          </a:xfrm>
        </p:grpSpPr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9774" y="5159679"/>
              <a:ext cx="4052315" cy="107765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05423" y="5145392"/>
              <a:ext cx="4081145" cy="1106805"/>
            </a:xfrm>
            <a:custGeom>
              <a:avLst/>
              <a:gdLst/>
              <a:ahLst/>
              <a:cxnLst/>
              <a:rect l="l" t="t" r="r" b="b"/>
              <a:pathLst>
                <a:path w="4081145" h="1106804">
                  <a:moveTo>
                    <a:pt x="0" y="1106233"/>
                  </a:moveTo>
                  <a:lnTo>
                    <a:pt x="4080891" y="1106233"/>
                  </a:lnTo>
                  <a:lnTo>
                    <a:pt x="4080891" y="0"/>
                  </a:lnTo>
                  <a:lnTo>
                    <a:pt x="0" y="0"/>
                  </a:lnTo>
                  <a:lnTo>
                    <a:pt x="0" y="1106233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9150" y="4712334"/>
            <a:ext cx="2280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S.E.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Haaland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1983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95911" y="3441712"/>
            <a:ext cx="3740785" cy="1031240"/>
            <a:chOff x="5895911" y="3441712"/>
            <a:chExt cx="3740785" cy="1031240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4549" y="3470273"/>
              <a:ext cx="3683363" cy="9738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10198" y="3456000"/>
              <a:ext cx="3712210" cy="1002665"/>
            </a:xfrm>
            <a:custGeom>
              <a:avLst/>
              <a:gdLst/>
              <a:ahLst/>
              <a:cxnLst/>
              <a:rect l="l" t="t" r="r" b="b"/>
              <a:pathLst>
                <a:path w="3712209" h="1002664">
                  <a:moveTo>
                    <a:pt x="0" y="1002461"/>
                  </a:moveTo>
                  <a:lnTo>
                    <a:pt x="3711955" y="1002461"/>
                  </a:lnTo>
                  <a:lnTo>
                    <a:pt x="3711955" y="0"/>
                  </a:lnTo>
                  <a:lnTo>
                    <a:pt x="0" y="0"/>
                  </a:lnTo>
                  <a:lnTo>
                    <a:pt x="0" y="1002461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24803" y="2833242"/>
            <a:ext cx="2468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Colebrook</a:t>
            </a:r>
            <a:r>
              <a:rPr sz="2400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equation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1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869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Turbulent</a:t>
            </a:r>
            <a:r>
              <a:rPr spc="-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Velocity</a:t>
            </a:r>
            <a:r>
              <a:rPr spc="-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Profile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840738"/>
            <a:ext cx="4007739" cy="23451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0420" y="1840738"/>
            <a:ext cx="5501894" cy="234911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028611" y="4547654"/>
            <a:ext cx="10377170" cy="1637664"/>
            <a:chOff x="1028611" y="4547654"/>
            <a:chExt cx="10377170" cy="1637664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1786" y="4550829"/>
              <a:ext cx="10370566" cy="1631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31786" y="4550829"/>
              <a:ext cx="10370820" cy="1631314"/>
            </a:xfrm>
            <a:custGeom>
              <a:avLst/>
              <a:gdLst/>
              <a:ahLst/>
              <a:cxnLst/>
              <a:rect l="l" t="t" r="r" b="b"/>
              <a:pathLst>
                <a:path w="10370820" h="1631314">
                  <a:moveTo>
                    <a:pt x="0" y="1631188"/>
                  </a:moveTo>
                  <a:lnTo>
                    <a:pt x="10370566" y="1631188"/>
                  </a:lnTo>
                  <a:lnTo>
                    <a:pt x="10370566" y="0"/>
                  </a:lnTo>
                  <a:lnTo>
                    <a:pt x="0" y="0"/>
                  </a:lnTo>
                  <a:lnTo>
                    <a:pt x="0" y="163118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98092" y="4568190"/>
            <a:ext cx="37477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950" baseline="-21367" dirty="0">
                <a:solidFill>
                  <a:srgbClr val="C00000"/>
                </a:solidFill>
                <a:latin typeface="Calibri"/>
                <a:cs typeface="Calibri"/>
              </a:rPr>
              <a:t>mean</a:t>
            </a:r>
            <a:r>
              <a:rPr sz="1950" spc="240" baseline="-2136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0.5</a:t>
            </a:r>
            <a:r>
              <a:rPr sz="20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950" baseline="-21367" dirty="0">
                <a:solidFill>
                  <a:srgbClr val="C00000"/>
                </a:solidFill>
                <a:latin typeface="Calibri"/>
                <a:cs typeface="Calibri"/>
              </a:rPr>
              <a:t>max</a:t>
            </a:r>
            <a:r>
              <a:rPr sz="1950" spc="225" baseline="-2136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Laminar 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22285" y="4568190"/>
            <a:ext cx="186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C00000"/>
                </a:solidFill>
                <a:latin typeface="Calibri"/>
                <a:cs typeface="Calibri"/>
              </a:rPr>
              <a:t>&amp;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5075" y="4568190"/>
            <a:ext cx="40157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950" baseline="-21367" dirty="0">
                <a:solidFill>
                  <a:srgbClr val="C00000"/>
                </a:solidFill>
                <a:latin typeface="Calibri"/>
                <a:cs typeface="Calibri"/>
              </a:rPr>
              <a:t>mean</a:t>
            </a:r>
            <a:r>
              <a:rPr sz="1950" spc="232" baseline="-2136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0.85</a:t>
            </a:r>
            <a:r>
              <a:rPr sz="20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950" baseline="-21367" dirty="0">
                <a:solidFill>
                  <a:srgbClr val="C00000"/>
                </a:solidFill>
                <a:latin typeface="Calibri"/>
                <a:cs typeface="Calibri"/>
              </a:rPr>
              <a:t>max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0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Turbulent</a:t>
            </a:r>
            <a:r>
              <a:rPr sz="20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5392" y="5177790"/>
            <a:ext cx="95421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  <a:tabLst>
                <a:tab pos="4863465" algn="l"/>
              </a:tabLst>
            </a:pP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20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example,</a:t>
            </a:r>
            <a:r>
              <a:rPr sz="20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if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U</a:t>
            </a:r>
            <a:r>
              <a:rPr sz="1950" b="1" baseline="-21367" dirty="0">
                <a:solidFill>
                  <a:srgbClr val="001F5F"/>
                </a:solidFill>
                <a:latin typeface="Calibri"/>
                <a:cs typeface="Calibri"/>
              </a:rPr>
              <a:t>mean</a:t>
            </a:r>
            <a:r>
              <a:rPr sz="1950" b="1" spc="-7" baseline="-21367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0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01F5F"/>
                </a:solidFill>
                <a:latin typeface="Calibri"/>
                <a:cs typeface="Calibri"/>
              </a:rPr>
              <a:t>1,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FFE699"/>
                </a:solidFill>
                <a:latin typeface="Calibri"/>
                <a:cs typeface="Calibri"/>
              </a:rPr>
              <a:t>(can</a:t>
            </a:r>
            <a:r>
              <a:rPr sz="2000" spc="-80" dirty="0">
                <a:solidFill>
                  <a:srgbClr val="FFE6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E699"/>
                </a:solidFill>
                <a:latin typeface="Calibri"/>
                <a:cs typeface="Calibri"/>
              </a:rPr>
              <a:t>vary</a:t>
            </a:r>
            <a:r>
              <a:rPr sz="2000" spc="-55" dirty="0">
                <a:solidFill>
                  <a:srgbClr val="FFE6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E699"/>
                </a:solidFill>
                <a:latin typeface="Calibri"/>
                <a:cs typeface="Calibri"/>
              </a:rPr>
              <a:t>with</a:t>
            </a:r>
            <a:r>
              <a:rPr sz="2000" spc="-65" dirty="0">
                <a:solidFill>
                  <a:srgbClr val="FFE6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E699"/>
                </a:solidFill>
                <a:latin typeface="Calibri"/>
                <a:cs typeface="Calibri"/>
              </a:rPr>
              <a:t>variation</a:t>
            </a:r>
            <a:r>
              <a:rPr sz="2000" spc="-45" dirty="0">
                <a:solidFill>
                  <a:srgbClr val="FFE6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E699"/>
                </a:solidFill>
                <a:latin typeface="Calibri"/>
                <a:cs typeface="Calibri"/>
              </a:rPr>
              <a:t>of</a:t>
            </a:r>
            <a:r>
              <a:rPr sz="2000" spc="-65" dirty="0">
                <a:solidFill>
                  <a:srgbClr val="FFE6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E699"/>
                </a:solidFill>
                <a:latin typeface="Calibri"/>
                <a:cs typeface="Calibri"/>
              </a:rPr>
              <a:t>Reynolds</a:t>
            </a:r>
            <a:r>
              <a:rPr sz="2000" spc="-80" dirty="0">
                <a:solidFill>
                  <a:srgbClr val="FFE6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E699"/>
                </a:solidFill>
                <a:latin typeface="Calibri"/>
                <a:cs typeface="Calibri"/>
              </a:rPr>
              <a:t>number)</a:t>
            </a:r>
            <a:endParaRPr sz="20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then</a:t>
            </a:r>
            <a:r>
              <a:rPr sz="20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U</a:t>
            </a:r>
            <a:r>
              <a:rPr sz="1950" baseline="-21367" dirty="0">
                <a:solidFill>
                  <a:srgbClr val="FFFF00"/>
                </a:solidFill>
                <a:latin typeface="Calibri"/>
                <a:cs typeface="Calibri"/>
              </a:rPr>
              <a:t>max</a:t>
            </a:r>
            <a:r>
              <a:rPr sz="1950" spc="202" baseline="-21367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=</a:t>
            </a:r>
            <a:r>
              <a:rPr sz="2000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2</a:t>
            </a:r>
            <a:r>
              <a:rPr sz="2000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20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Laminar</a:t>
            </a:r>
            <a:r>
              <a:rPr sz="2000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flow</a:t>
            </a:r>
            <a:r>
              <a:rPr sz="2000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and</a:t>
            </a:r>
            <a:r>
              <a:rPr sz="2000" spc="4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U</a:t>
            </a:r>
            <a:r>
              <a:rPr sz="1950" baseline="-21367" dirty="0">
                <a:solidFill>
                  <a:srgbClr val="FFFF00"/>
                </a:solidFill>
                <a:latin typeface="Calibri"/>
                <a:cs typeface="Calibri"/>
              </a:rPr>
              <a:t>max</a:t>
            </a:r>
            <a:r>
              <a:rPr sz="1950" spc="202" baseline="-21367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=</a:t>
            </a:r>
            <a:r>
              <a:rPr sz="20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1.17</a:t>
            </a:r>
            <a:r>
              <a:rPr sz="20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20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00"/>
                </a:solidFill>
                <a:latin typeface="Calibri"/>
                <a:cs typeface="Calibri"/>
              </a:rPr>
              <a:t>turbulent</a:t>
            </a:r>
            <a:r>
              <a:rPr sz="20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00"/>
                </a:solidFill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7305" y="1226311"/>
            <a:ext cx="8545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4924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Laminar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velocity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profile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Turbulent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velocity</a:t>
            </a:r>
            <a:r>
              <a:rPr sz="24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profile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869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Turbulent</a:t>
            </a:r>
            <a:r>
              <a:rPr spc="-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Velocity</a:t>
            </a:r>
            <a:r>
              <a:rPr spc="-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Profile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2295" y="1202181"/>
            <a:ext cx="85388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Laminar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flow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single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layer,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turbulent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flow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four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layers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flow.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108" y="1766189"/>
            <a:ext cx="2724150" cy="19537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7019" y="1784730"/>
            <a:ext cx="3198749" cy="230454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9331" y="4143247"/>
            <a:ext cx="3594100" cy="1028700"/>
            <a:chOff x="389331" y="4143247"/>
            <a:chExt cx="3594100" cy="10287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331" y="4143247"/>
              <a:ext cx="3594100" cy="10287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1954" y="4143247"/>
              <a:ext cx="652145" cy="815340"/>
            </a:xfrm>
            <a:custGeom>
              <a:avLst/>
              <a:gdLst/>
              <a:ahLst/>
              <a:cxnLst/>
              <a:rect l="l" t="t" r="r" b="b"/>
              <a:pathLst>
                <a:path w="652144" h="815339">
                  <a:moveTo>
                    <a:pt x="480726" y="156299"/>
                  </a:moveTo>
                  <a:lnTo>
                    <a:pt x="0" y="767969"/>
                  </a:lnTo>
                  <a:lnTo>
                    <a:pt x="59918" y="815085"/>
                  </a:lnTo>
                  <a:lnTo>
                    <a:pt x="540607" y="203344"/>
                  </a:lnTo>
                  <a:lnTo>
                    <a:pt x="480726" y="156299"/>
                  </a:lnTo>
                  <a:close/>
                </a:path>
                <a:path w="652144" h="815339">
                  <a:moveTo>
                    <a:pt x="625977" y="126364"/>
                  </a:moveTo>
                  <a:lnTo>
                    <a:pt x="504253" y="126364"/>
                  </a:lnTo>
                  <a:lnTo>
                    <a:pt x="564172" y="173354"/>
                  </a:lnTo>
                  <a:lnTo>
                    <a:pt x="540607" y="203344"/>
                  </a:lnTo>
                  <a:lnTo>
                    <a:pt x="600557" y="250444"/>
                  </a:lnTo>
                  <a:lnTo>
                    <a:pt x="625977" y="126364"/>
                  </a:lnTo>
                  <a:close/>
                </a:path>
                <a:path w="652144" h="815339">
                  <a:moveTo>
                    <a:pt x="504253" y="126364"/>
                  </a:moveTo>
                  <a:lnTo>
                    <a:pt x="480726" y="156299"/>
                  </a:lnTo>
                  <a:lnTo>
                    <a:pt x="540607" y="203344"/>
                  </a:lnTo>
                  <a:lnTo>
                    <a:pt x="564172" y="173354"/>
                  </a:lnTo>
                  <a:lnTo>
                    <a:pt x="504253" y="126364"/>
                  </a:lnTo>
                  <a:close/>
                </a:path>
                <a:path w="652144" h="815339">
                  <a:moveTo>
                    <a:pt x="651865" y="0"/>
                  </a:moveTo>
                  <a:lnTo>
                    <a:pt x="420801" y="109219"/>
                  </a:lnTo>
                  <a:lnTo>
                    <a:pt x="480726" y="156299"/>
                  </a:lnTo>
                  <a:lnTo>
                    <a:pt x="504253" y="126364"/>
                  </a:lnTo>
                  <a:lnTo>
                    <a:pt x="625977" y="126364"/>
                  </a:lnTo>
                  <a:lnTo>
                    <a:pt x="6518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82649" y="3843909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37513" y="4166742"/>
            <a:ext cx="652145" cy="815340"/>
          </a:xfrm>
          <a:custGeom>
            <a:avLst/>
            <a:gdLst/>
            <a:ahLst/>
            <a:cxnLst/>
            <a:rect l="l" t="t" r="r" b="b"/>
            <a:pathLst>
              <a:path w="652144" h="815339">
                <a:moveTo>
                  <a:pt x="480754" y="156341"/>
                </a:moveTo>
                <a:lnTo>
                  <a:pt x="0" y="767968"/>
                </a:lnTo>
                <a:lnTo>
                  <a:pt x="59943" y="815085"/>
                </a:lnTo>
                <a:lnTo>
                  <a:pt x="540585" y="203327"/>
                </a:lnTo>
                <a:lnTo>
                  <a:pt x="480754" y="156341"/>
                </a:lnTo>
                <a:close/>
              </a:path>
              <a:path w="652144" h="815339">
                <a:moveTo>
                  <a:pt x="626002" y="126364"/>
                </a:moveTo>
                <a:lnTo>
                  <a:pt x="504317" y="126364"/>
                </a:lnTo>
                <a:lnTo>
                  <a:pt x="564134" y="173354"/>
                </a:lnTo>
                <a:lnTo>
                  <a:pt x="540585" y="203327"/>
                </a:lnTo>
                <a:lnTo>
                  <a:pt x="600582" y="250443"/>
                </a:lnTo>
                <a:lnTo>
                  <a:pt x="626002" y="126364"/>
                </a:lnTo>
                <a:close/>
              </a:path>
              <a:path w="652144" h="815339">
                <a:moveTo>
                  <a:pt x="504317" y="126364"/>
                </a:moveTo>
                <a:lnTo>
                  <a:pt x="480754" y="156341"/>
                </a:lnTo>
                <a:lnTo>
                  <a:pt x="540585" y="203327"/>
                </a:lnTo>
                <a:lnTo>
                  <a:pt x="564134" y="173354"/>
                </a:lnTo>
                <a:lnTo>
                  <a:pt x="504317" y="126364"/>
                </a:lnTo>
                <a:close/>
              </a:path>
              <a:path w="652144" h="815339">
                <a:moveTo>
                  <a:pt x="651891" y="0"/>
                </a:moveTo>
                <a:lnTo>
                  <a:pt x="420750" y="109219"/>
                </a:lnTo>
                <a:lnTo>
                  <a:pt x="480754" y="156341"/>
                </a:lnTo>
                <a:lnTo>
                  <a:pt x="504317" y="126364"/>
                </a:lnTo>
                <a:lnTo>
                  <a:pt x="626002" y="126364"/>
                </a:lnTo>
                <a:lnTo>
                  <a:pt x="6518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67305" y="3821379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3926" y="5494235"/>
            <a:ext cx="4333875" cy="6858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54645" y="4489716"/>
            <a:ext cx="4445000" cy="78713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57801" y="4489793"/>
            <a:ext cx="2218435" cy="62170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53685" y="5612129"/>
            <a:ext cx="7074072" cy="34577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53479" y="6064178"/>
            <a:ext cx="5202047" cy="258273"/>
          </a:xfrm>
          <a:prstGeom prst="rect">
            <a:avLst/>
          </a:prstGeom>
        </p:spPr>
      </p:pic>
      <p:pic>
        <p:nvPicPr>
          <p:cNvPr id="18" name="object 18" descr="Screen Clipping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213226" y="2156739"/>
            <a:ext cx="2086228" cy="68590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231376" y="3535286"/>
            <a:ext cx="2724150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n=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flows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48800" y="2244344"/>
            <a:ext cx="2162175" cy="90487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2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869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Turbulent</a:t>
            </a:r>
            <a:r>
              <a:rPr spc="-5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Velocity</a:t>
            </a:r>
            <a:r>
              <a:rPr spc="-6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Profile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906" y="1041527"/>
            <a:ext cx="3313811" cy="23874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8200" y="1038605"/>
            <a:ext cx="3553713" cy="29503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066" y="4649635"/>
            <a:ext cx="8027924" cy="6305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41358" y="1016000"/>
            <a:ext cx="3057809" cy="29673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4624" y="3603497"/>
            <a:ext cx="2162175" cy="9048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36748" y="4115041"/>
            <a:ext cx="2724150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n=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flows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97924" y="4358419"/>
            <a:ext cx="3205907" cy="66709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29500" y="5328704"/>
            <a:ext cx="4756785" cy="923925"/>
          </a:xfrm>
          <a:prstGeom prst="rect">
            <a:avLst/>
          </a:prstGeom>
          <a:solidFill>
            <a:srgbClr val="FFE699"/>
          </a:solidFill>
          <a:ln w="12700">
            <a:solidFill>
              <a:srgbClr val="EC7C3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Y+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1-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Sublayer</a:t>
            </a:r>
            <a:endParaRPr sz="1800">
              <a:latin typeface="Calibri"/>
              <a:cs typeface="Calibri"/>
            </a:endParaRPr>
          </a:p>
          <a:p>
            <a:pPr marL="40576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5-30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buffer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  <a:p>
            <a:pPr marL="40576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30-</a:t>
            </a:r>
            <a:r>
              <a:rPr sz="1800" dirty="0">
                <a:latin typeface="Calibri"/>
                <a:cs typeface="Calibri"/>
              </a:rPr>
              <a:t>1000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overlap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turbulent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4624" y="5486400"/>
            <a:ext cx="1434973" cy="4404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54326" y="5417972"/>
            <a:ext cx="2151761" cy="6111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65371" y="5417972"/>
            <a:ext cx="2422652" cy="74444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3364" y="6058306"/>
            <a:ext cx="807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Viscous </a:t>
            </a:r>
            <a:r>
              <a:rPr sz="1800" spc="-20" dirty="0">
                <a:latin typeface="Calibri"/>
                <a:cs typeface="Calibri"/>
              </a:rPr>
              <a:t>sublayer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2012695" y="6093053"/>
            <a:ext cx="184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Overlap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6030" y="6204610"/>
            <a:ext cx="189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Fully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turbulent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Ratio</a:t>
            </a:r>
            <a:r>
              <a:rPr spc="-4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FF0000"/>
                </a:solidFill>
                <a:latin typeface="Microsoft Sans Serif"/>
                <a:cs typeface="Microsoft Sans Serif"/>
              </a:rPr>
              <a:t>of u</a:t>
            </a:r>
            <a:r>
              <a:rPr sz="3600" baseline="-20833" dirty="0">
                <a:solidFill>
                  <a:srgbClr val="FF0000"/>
                </a:solidFill>
                <a:latin typeface="Microsoft Sans Serif"/>
                <a:cs typeface="Microsoft Sans Serif"/>
              </a:rPr>
              <a:t>mean</a:t>
            </a:r>
            <a:r>
              <a:rPr sz="3600" spc="-60" baseline="-20833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0000"/>
                </a:solidFill>
                <a:latin typeface="Microsoft Sans Serif"/>
                <a:cs typeface="Microsoft Sans Serif"/>
              </a:rPr>
              <a:t>and</a:t>
            </a:r>
            <a:r>
              <a:rPr sz="36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0000"/>
                </a:solidFill>
                <a:latin typeface="Microsoft Sans Serif"/>
                <a:cs typeface="Microsoft Sans Serif"/>
              </a:rPr>
              <a:t>u</a:t>
            </a:r>
            <a:r>
              <a:rPr sz="3600" baseline="-20833" dirty="0">
                <a:solidFill>
                  <a:srgbClr val="FF0000"/>
                </a:solidFill>
                <a:latin typeface="Microsoft Sans Serif"/>
                <a:cs typeface="Microsoft Sans Serif"/>
              </a:rPr>
              <a:t>max</a:t>
            </a:r>
            <a:r>
              <a:rPr sz="3600" spc="-60" baseline="-20833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0000"/>
                </a:solidFill>
                <a:latin typeface="Microsoft Sans Serif"/>
                <a:cs typeface="Microsoft Sans Serif"/>
              </a:rPr>
              <a:t>and</a:t>
            </a:r>
            <a:r>
              <a:rPr sz="360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0000"/>
                </a:solidFill>
                <a:latin typeface="Microsoft Sans Serif"/>
                <a:cs typeface="Microsoft Sans Serif"/>
              </a:rPr>
              <a:t>value</a:t>
            </a:r>
            <a:r>
              <a:rPr sz="3600" spc="-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FF0000"/>
                </a:solidFill>
                <a:latin typeface="Microsoft Sans Serif"/>
                <a:cs typeface="Microsoft Sans Serif"/>
              </a:rPr>
              <a:t>of</a:t>
            </a:r>
            <a:r>
              <a:rPr sz="3600" spc="-2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3600" spc="-50" dirty="0">
                <a:solidFill>
                  <a:srgbClr val="FF0000"/>
                </a:solidFill>
                <a:latin typeface="Microsoft Sans Serif"/>
                <a:cs typeface="Microsoft Sans Serif"/>
              </a:rPr>
              <a:t>n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295" y="1202181"/>
            <a:ext cx="11164570" cy="126619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reduction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ratio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maximum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average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velocity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reflects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flattening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profile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as 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becomes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larger.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course,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equation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kink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profile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infinite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slope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shouldn’t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applied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boundary,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although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reasonable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otherwise.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6997" y="2220467"/>
            <a:ext cx="2162175" cy="9048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410" y="2839322"/>
            <a:ext cx="5311902" cy="39156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33591" y="3268835"/>
            <a:ext cx="5229225" cy="34861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52345" y="356108"/>
            <a:ext cx="8326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Microsoft Sans Serif"/>
                <a:cs typeface="Microsoft Sans Serif"/>
              </a:rPr>
              <a:t>Analytical/Semi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Empirical</a:t>
            </a:r>
            <a:r>
              <a:rPr spc="-1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Velocity</a:t>
            </a:r>
            <a:r>
              <a:rPr spc="-11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Profile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1550" y="1169619"/>
            <a:ext cx="806513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alibri"/>
                <a:cs typeface="Calibri"/>
              </a:rPr>
              <a:t>Value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curvature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profile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calculated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6.189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150" y="2776169"/>
            <a:ext cx="76384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47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64795" algn="l"/>
              </a:tabLst>
            </a:pPr>
            <a:r>
              <a:rPr sz="2000" dirty="0">
                <a:latin typeface="Calibri"/>
                <a:cs typeface="Calibri"/>
              </a:rPr>
              <a:t>Ratio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1950" baseline="-21367" dirty="0">
                <a:latin typeface="Calibri"/>
                <a:cs typeface="Calibri"/>
              </a:rPr>
              <a:t>max</a:t>
            </a:r>
            <a:r>
              <a:rPr sz="1950" spc="20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1950" baseline="-21367" dirty="0">
                <a:latin typeface="Calibri"/>
                <a:cs typeface="Calibri"/>
              </a:rPr>
              <a:t>mean</a:t>
            </a:r>
            <a:r>
              <a:rPr sz="1950" spc="-15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1.254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75" dirty="0">
                <a:latin typeface="Cambria Math"/>
                <a:cs typeface="Cambria Math"/>
              </a:rPr>
              <a:t>𝑢</a:t>
            </a:r>
            <a:r>
              <a:rPr sz="2175" spc="112" baseline="-15325" dirty="0">
                <a:latin typeface="Cambria Math"/>
                <a:cs typeface="Cambria Math"/>
              </a:rPr>
              <a:t>𝑚𝑎𝑥</a:t>
            </a:r>
            <a:r>
              <a:rPr sz="2175" spc="494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1.254 </a:t>
            </a:r>
            <a:r>
              <a:rPr sz="2000" spc="65" dirty="0">
                <a:latin typeface="Cambria Math"/>
                <a:cs typeface="Cambria Math"/>
              </a:rPr>
              <a:t>𝑢</a:t>
            </a:r>
            <a:r>
              <a:rPr sz="2175" spc="97" baseline="-15325" dirty="0">
                <a:latin typeface="Cambria Math"/>
                <a:cs typeface="Cambria Math"/>
              </a:rPr>
              <a:t>𝑚𝑒𝑎𝑛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1550" y="3578478"/>
            <a:ext cx="5465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alibri"/>
                <a:cs typeface="Calibri"/>
              </a:rPr>
              <a:t>Therefore,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empirical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profile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becomes: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73250" y="4620895"/>
            <a:ext cx="292735" cy="236220"/>
          </a:xfrm>
          <a:custGeom>
            <a:avLst/>
            <a:gdLst/>
            <a:ahLst/>
            <a:cxnLst/>
            <a:rect l="l" t="t" r="r" b="b"/>
            <a:pathLst>
              <a:path w="292735" h="236220">
                <a:moveTo>
                  <a:pt x="217297" y="0"/>
                </a:moveTo>
                <a:lnTo>
                  <a:pt x="213994" y="9524"/>
                </a:lnTo>
                <a:lnTo>
                  <a:pt x="227635" y="15430"/>
                </a:lnTo>
                <a:lnTo>
                  <a:pt x="239394" y="23621"/>
                </a:lnTo>
                <a:lnTo>
                  <a:pt x="263249" y="61650"/>
                </a:lnTo>
                <a:lnTo>
                  <a:pt x="271018" y="116585"/>
                </a:lnTo>
                <a:lnTo>
                  <a:pt x="270138" y="137423"/>
                </a:lnTo>
                <a:lnTo>
                  <a:pt x="257048" y="188340"/>
                </a:lnTo>
                <a:lnTo>
                  <a:pt x="227830" y="220130"/>
                </a:lnTo>
                <a:lnTo>
                  <a:pt x="214375" y="226059"/>
                </a:lnTo>
                <a:lnTo>
                  <a:pt x="217297" y="235711"/>
                </a:lnTo>
                <a:lnTo>
                  <a:pt x="262409" y="208887"/>
                </a:lnTo>
                <a:lnTo>
                  <a:pt x="287686" y="159480"/>
                </a:lnTo>
                <a:lnTo>
                  <a:pt x="292481" y="117855"/>
                </a:lnTo>
                <a:lnTo>
                  <a:pt x="291279" y="96512"/>
                </a:lnTo>
                <a:lnTo>
                  <a:pt x="281551" y="57991"/>
                </a:lnTo>
                <a:lnTo>
                  <a:pt x="249412" y="15065"/>
                </a:lnTo>
                <a:lnTo>
                  <a:pt x="234420" y="6145"/>
                </a:lnTo>
                <a:lnTo>
                  <a:pt x="217297" y="0"/>
                </a:lnTo>
                <a:close/>
              </a:path>
              <a:path w="292735" h="236220">
                <a:moveTo>
                  <a:pt x="75183" y="0"/>
                </a:moveTo>
                <a:lnTo>
                  <a:pt x="30214" y="26771"/>
                </a:lnTo>
                <a:lnTo>
                  <a:pt x="4857" y="76326"/>
                </a:lnTo>
                <a:lnTo>
                  <a:pt x="71" y="116585"/>
                </a:lnTo>
                <a:lnTo>
                  <a:pt x="0" y="117855"/>
                </a:lnTo>
                <a:lnTo>
                  <a:pt x="4857" y="159480"/>
                </a:lnTo>
                <a:lnTo>
                  <a:pt x="30142" y="208887"/>
                </a:lnTo>
                <a:lnTo>
                  <a:pt x="75183" y="235711"/>
                </a:lnTo>
                <a:lnTo>
                  <a:pt x="78105" y="226059"/>
                </a:lnTo>
                <a:lnTo>
                  <a:pt x="64722" y="220130"/>
                </a:lnTo>
                <a:lnTo>
                  <a:pt x="53149" y="211867"/>
                </a:lnTo>
                <a:lnTo>
                  <a:pt x="29338" y="173289"/>
                </a:lnTo>
                <a:lnTo>
                  <a:pt x="21516" y="117855"/>
                </a:lnTo>
                <a:lnTo>
                  <a:pt x="21462" y="116585"/>
                </a:lnTo>
                <a:lnTo>
                  <a:pt x="22342" y="96512"/>
                </a:lnTo>
                <a:lnTo>
                  <a:pt x="35432" y="46862"/>
                </a:lnTo>
                <a:lnTo>
                  <a:pt x="64936" y="15430"/>
                </a:lnTo>
                <a:lnTo>
                  <a:pt x="78486" y="9524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27094" y="4528311"/>
            <a:ext cx="777875" cy="420370"/>
          </a:xfrm>
          <a:custGeom>
            <a:avLst/>
            <a:gdLst/>
            <a:ahLst/>
            <a:cxnLst/>
            <a:rect l="l" t="t" r="r" b="b"/>
            <a:pathLst>
              <a:path w="777875" h="420370">
                <a:moveTo>
                  <a:pt x="686815" y="0"/>
                </a:moveTo>
                <a:lnTo>
                  <a:pt x="682751" y="10032"/>
                </a:lnTo>
                <a:lnTo>
                  <a:pt x="698424" y="22721"/>
                </a:lnTo>
                <a:lnTo>
                  <a:pt x="712311" y="39242"/>
                </a:lnTo>
                <a:lnTo>
                  <a:pt x="734821" y="83693"/>
                </a:lnTo>
                <a:lnTo>
                  <a:pt x="748998" y="141398"/>
                </a:lnTo>
                <a:lnTo>
                  <a:pt x="753736" y="209804"/>
                </a:lnTo>
                <a:lnTo>
                  <a:pt x="753744" y="210057"/>
                </a:lnTo>
                <a:lnTo>
                  <a:pt x="752576" y="245201"/>
                </a:lnTo>
                <a:lnTo>
                  <a:pt x="743190" y="307963"/>
                </a:lnTo>
                <a:lnTo>
                  <a:pt x="724614" y="359967"/>
                </a:lnTo>
                <a:lnTo>
                  <a:pt x="698515" y="397166"/>
                </a:lnTo>
                <a:lnTo>
                  <a:pt x="682751" y="409956"/>
                </a:lnTo>
                <a:lnTo>
                  <a:pt x="686815" y="419862"/>
                </a:lnTo>
                <a:lnTo>
                  <a:pt x="724138" y="389937"/>
                </a:lnTo>
                <a:lnTo>
                  <a:pt x="752982" y="342011"/>
                </a:lnTo>
                <a:lnTo>
                  <a:pt x="771382" y="280479"/>
                </a:lnTo>
                <a:lnTo>
                  <a:pt x="777483" y="210057"/>
                </a:lnTo>
                <a:lnTo>
                  <a:pt x="777493" y="209804"/>
                </a:lnTo>
                <a:lnTo>
                  <a:pt x="776020" y="174365"/>
                </a:lnTo>
                <a:lnTo>
                  <a:pt x="775968" y="173108"/>
                </a:lnTo>
                <a:lnTo>
                  <a:pt x="771382" y="138842"/>
                </a:lnTo>
                <a:lnTo>
                  <a:pt x="752982" y="77596"/>
                </a:lnTo>
                <a:lnTo>
                  <a:pt x="724138" y="29987"/>
                </a:lnTo>
                <a:lnTo>
                  <a:pt x="706530" y="12785"/>
                </a:lnTo>
                <a:lnTo>
                  <a:pt x="686815" y="0"/>
                </a:lnTo>
                <a:close/>
              </a:path>
              <a:path w="777875" h="420370">
                <a:moveTo>
                  <a:pt x="90550" y="0"/>
                </a:moveTo>
                <a:lnTo>
                  <a:pt x="53339" y="29987"/>
                </a:lnTo>
                <a:lnTo>
                  <a:pt x="24510" y="77596"/>
                </a:lnTo>
                <a:lnTo>
                  <a:pt x="6111" y="138842"/>
                </a:lnTo>
                <a:lnTo>
                  <a:pt x="0" y="209804"/>
                </a:lnTo>
                <a:lnTo>
                  <a:pt x="1480" y="245201"/>
                </a:lnTo>
                <a:lnTo>
                  <a:pt x="13769" y="312388"/>
                </a:lnTo>
                <a:lnTo>
                  <a:pt x="37865" y="368230"/>
                </a:lnTo>
                <a:lnTo>
                  <a:pt x="70909" y="407144"/>
                </a:lnTo>
                <a:lnTo>
                  <a:pt x="90550" y="419862"/>
                </a:lnTo>
                <a:lnTo>
                  <a:pt x="94741" y="409956"/>
                </a:lnTo>
                <a:lnTo>
                  <a:pt x="78906" y="397166"/>
                </a:lnTo>
                <a:lnTo>
                  <a:pt x="64928" y="380507"/>
                </a:lnTo>
                <a:lnTo>
                  <a:pt x="42544" y="335533"/>
                </a:lnTo>
                <a:lnTo>
                  <a:pt x="28432" y="277844"/>
                </a:lnTo>
                <a:lnTo>
                  <a:pt x="25034" y="246284"/>
                </a:lnTo>
                <a:lnTo>
                  <a:pt x="24917" y="245201"/>
                </a:lnTo>
                <a:lnTo>
                  <a:pt x="24937" y="174365"/>
                </a:lnTo>
                <a:lnTo>
                  <a:pt x="34411" y="111170"/>
                </a:lnTo>
                <a:lnTo>
                  <a:pt x="53058" y="59574"/>
                </a:lnTo>
                <a:lnTo>
                  <a:pt x="79069" y="22721"/>
                </a:lnTo>
                <a:lnTo>
                  <a:pt x="94741" y="10032"/>
                </a:lnTo>
                <a:lnTo>
                  <a:pt x="90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60525" y="4544390"/>
            <a:ext cx="28079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98805" algn="l"/>
                <a:tab pos="2369820" algn="l"/>
              </a:tabLst>
            </a:pPr>
            <a:r>
              <a:rPr sz="2000" dirty="0">
                <a:latin typeface="Cambria Math"/>
                <a:cs typeface="Cambria Math"/>
              </a:rPr>
              <a:t>𝑢</a:t>
            </a:r>
            <a:r>
              <a:rPr sz="2000" spc="43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𝑟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1.254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spc="70" dirty="0">
                <a:latin typeface="Cambria Math"/>
                <a:cs typeface="Cambria Math"/>
              </a:rPr>
              <a:t>𝑢</a:t>
            </a:r>
            <a:r>
              <a:rPr sz="2175" spc="104" baseline="-15325" dirty="0">
                <a:latin typeface="Cambria Math"/>
                <a:cs typeface="Cambria Math"/>
              </a:rPr>
              <a:t>𝑚𝑒𝑎𝑛</a:t>
            </a:r>
            <a:r>
              <a:rPr sz="2175" baseline="-15325" dirty="0">
                <a:latin typeface="Cambria Math"/>
                <a:cs typeface="Cambria Math"/>
              </a:rPr>
              <a:t>	</a:t>
            </a:r>
            <a:r>
              <a:rPr sz="2000" dirty="0">
                <a:latin typeface="Cambria Math"/>
                <a:cs typeface="Cambria Math"/>
              </a:rPr>
              <a:t>1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73702" y="4730241"/>
            <a:ext cx="128270" cy="17145"/>
          </a:xfrm>
          <a:custGeom>
            <a:avLst/>
            <a:gdLst/>
            <a:ahLst/>
            <a:cxnLst/>
            <a:rect l="l" t="t" r="r" b="b"/>
            <a:pathLst>
              <a:path w="128270" h="17145">
                <a:moveTo>
                  <a:pt x="128015" y="0"/>
                </a:moveTo>
                <a:lnTo>
                  <a:pt x="0" y="0"/>
                </a:lnTo>
                <a:lnTo>
                  <a:pt x="0" y="16763"/>
                </a:lnTo>
                <a:lnTo>
                  <a:pt x="128015" y="16763"/>
                </a:lnTo>
                <a:lnTo>
                  <a:pt x="1280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61509" y="4409081"/>
            <a:ext cx="147955" cy="58102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545"/>
              </a:spcBef>
            </a:pPr>
            <a:r>
              <a:rPr sz="1450" spc="30" dirty="0">
                <a:latin typeface="Cambria Math"/>
                <a:cs typeface="Cambria Math"/>
              </a:rPr>
              <a:t>𝑟</a:t>
            </a:r>
            <a:endParaRPr sz="14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50" spc="-50" dirty="0">
                <a:latin typeface="Cambria Math"/>
                <a:cs typeface="Cambria Math"/>
              </a:rPr>
              <a:t>𝑅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89094" y="4328286"/>
            <a:ext cx="25400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25" dirty="0">
                <a:latin typeface="Cambria Math"/>
                <a:cs typeface="Cambria Math"/>
              </a:rPr>
              <a:t>1</a:t>
            </a:r>
            <a:r>
              <a:rPr sz="2175" spc="-37" baseline="-15325" dirty="0">
                <a:latin typeface="Cambria Math"/>
                <a:cs typeface="Cambria Math"/>
              </a:rPr>
              <a:t>Τ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7815" y="4466666"/>
            <a:ext cx="4171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mbria Math"/>
                <a:cs typeface="Cambria Math"/>
              </a:rPr>
              <a:t>6.189</a:t>
            </a:r>
            <a:endParaRPr sz="1200">
              <a:latin typeface="Cambria Math"/>
              <a:cs typeface="Cambria Math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475" y="1518411"/>
            <a:ext cx="2266950" cy="10668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2925" y="1655572"/>
            <a:ext cx="2505075" cy="11620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9625" y="1812798"/>
            <a:ext cx="2162175" cy="90487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40739" y="5553862"/>
            <a:ext cx="2886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68852" y="5720867"/>
            <a:ext cx="228600" cy="15240"/>
          </a:xfrm>
          <a:custGeom>
            <a:avLst/>
            <a:gdLst/>
            <a:ahLst/>
            <a:cxnLst/>
            <a:rect l="l" t="t" r="r" b="b"/>
            <a:pathLst>
              <a:path w="228600" h="15239">
                <a:moveTo>
                  <a:pt x="228600" y="0"/>
                </a:moveTo>
                <a:lnTo>
                  <a:pt x="0" y="0"/>
                </a:lnTo>
                <a:lnTo>
                  <a:pt x="0" y="15240"/>
                </a:lnTo>
                <a:lnTo>
                  <a:pt x="228600" y="1524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56786" y="5433466"/>
            <a:ext cx="255270" cy="52260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300" spc="-25" dirty="0">
                <a:latin typeface="Cambria Math"/>
                <a:cs typeface="Cambria Math"/>
              </a:rPr>
              <a:t>0.2</a:t>
            </a:r>
            <a:endParaRPr sz="1300">
              <a:latin typeface="Cambria Math"/>
              <a:cs typeface="Cambria Math"/>
            </a:endParaRPr>
          </a:p>
          <a:p>
            <a:pPr marL="78105">
              <a:lnSpc>
                <a:spcPct val="100000"/>
              </a:lnSpc>
              <a:spcBef>
                <a:spcPts val="395"/>
              </a:spcBef>
            </a:pPr>
            <a:r>
              <a:rPr sz="1300" spc="-5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47871" y="5553862"/>
            <a:ext cx="658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0.1)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39050" y="3278517"/>
            <a:ext cx="4324350" cy="2940050"/>
            <a:chOff x="7639050" y="3278517"/>
            <a:chExt cx="4324350" cy="2940050"/>
          </a:xfrm>
        </p:grpSpPr>
        <p:sp>
          <p:nvSpPr>
            <p:cNvPr id="22" name="object 22"/>
            <p:cNvSpPr/>
            <p:nvPr/>
          </p:nvSpPr>
          <p:spPr>
            <a:xfrm>
              <a:off x="7639050" y="3278517"/>
              <a:ext cx="4324350" cy="2940050"/>
            </a:xfrm>
            <a:custGeom>
              <a:avLst/>
              <a:gdLst/>
              <a:ahLst/>
              <a:cxnLst/>
              <a:rect l="l" t="t" r="r" b="b"/>
              <a:pathLst>
                <a:path w="4324350" h="2940050">
                  <a:moveTo>
                    <a:pt x="4324350" y="0"/>
                  </a:moveTo>
                  <a:lnTo>
                    <a:pt x="0" y="0"/>
                  </a:lnTo>
                  <a:lnTo>
                    <a:pt x="0" y="2939669"/>
                  </a:lnTo>
                  <a:lnTo>
                    <a:pt x="4324350" y="2939669"/>
                  </a:lnTo>
                  <a:lnTo>
                    <a:pt x="4324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33893" y="3966591"/>
              <a:ext cx="3688715" cy="1626235"/>
            </a:xfrm>
            <a:custGeom>
              <a:avLst/>
              <a:gdLst/>
              <a:ahLst/>
              <a:cxnLst/>
              <a:rect l="l" t="t" r="r" b="b"/>
              <a:pathLst>
                <a:path w="3688715" h="1626235">
                  <a:moveTo>
                    <a:pt x="0" y="1509140"/>
                  </a:moveTo>
                  <a:lnTo>
                    <a:pt x="3688587" y="1509140"/>
                  </a:lnTo>
                </a:path>
                <a:path w="3688715" h="1626235">
                  <a:moveTo>
                    <a:pt x="0" y="1393316"/>
                  </a:moveTo>
                  <a:lnTo>
                    <a:pt x="3688587" y="1393316"/>
                  </a:lnTo>
                </a:path>
                <a:path w="3688715" h="1626235">
                  <a:moveTo>
                    <a:pt x="0" y="1277492"/>
                  </a:moveTo>
                  <a:lnTo>
                    <a:pt x="3688587" y="1277492"/>
                  </a:lnTo>
                </a:path>
                <a:path w="3688715" h="1626235">
                  <a:moveTo>
                    <a:pt x="0" y="1161668"/>
                  </a:moveTo>
                  <a:lnTo>
                    <a:pt x="3688587" y="1161668"/>
                  </a:lnTo>
                </a:path>
                <a:path w="3688715" h="1626235">
                  <a:moveTo>
                    <a:pt x="0" y="1044320"/>
                  </a:moveTo>
                  <a:lnTo>
                    <a:pt x="3688587" y="1044320"/>
                  </a:lnTo>
                </a:path>
                <a:path w="3688715" h="1626235">
                  <a:moveTo>
                    <a:pt x="0" y="928496"/>
                  </a:moveTo>
                  <a:lnTo>
                    <a:pt x="3688587" y="928496"/>
                  </a:lnTo>
                </a:path>
                <a:path w="3688715" h="1626235">
                  <a:moveTo>
                    <a:pt x="0" y="812672"/>
                  </a:moveTo>
                  <a:lnTo>
                    <a:pt x="3688587" y="812672"/>
                  </a:lnTo>
                </a:path>
                <a:path w="3688715" h="1626235">
                  <a:moveTo>
                    <a:pt x="0" y="696848"/>
                  </a:moveTo>
                  <a:lnTo>
                    <a:pt x="3688587" y="696848"/>
                  </a:lnTo>
                </a:path>
                <a:path w="3688715" h="1626235">
                  <a:moveTo>
                    <a:pt x="0" y="581024"/>
                  </a:moveTo>
                  <a:lnTo>
                    <a:pt x="3688587" y="581024"/>
                  </a:lnTo>
                </a:path>
                <a:path w="3688715" h="1626235">
                  <a:moveTo>
                    <a:pt x="0" y="465200"/>
                  </a:moveTo>
                  <a:lnTo>
                    <a:pt x="3688587" y="465200"/>
                  </a:lnTo>
                </a:path>
                <a:path w="3688715" h="1626235">
                  <a:moveTo>
                    <a:pt x="0" y="347852"/>
                  </a:moveTo>
                  <a:lnTo>
                    <a:pt x="3688587" y="347852"/>
                  </a:lnTo>
                </a:path>
                <a:path w="3688715" h="1626235">
                  <a:moveTo>
                    <a:pt x="0" y="232028"/>
                  </a:moveTo>
                  <a:lnTo>
                    <a:pt x="3688587" y="232028"/>
                  </a:lnTo>
                </a:path>
                <a:path w="3688715" h="1626235">
                  <a:moveTo>
                    <a:pt x="0" y="116204"/>
                  </a:moveTo>
                  <a:lnTo>
                    <a:pt x="3688587" y="116204"/>
                  </a:lnTo>
                </a:path>
                <a:path w="3688715" h="1626235">
                  <a:moveTo>
                    <a:pt x="0" y="0"/>
                  </a:moveTo>
                  <a:lnTo>
                    <a:pt x="3688587" y="0"/>
                  </a:lnTo>
                </a:path>
                <a:path w="3688715" h="1626235">
                  <a:moveTo>
                    <a:pt x="0" y="0"/>
                  </a:moveTo>
                  <a:lnTo>
                    <a:pt x="0" y="1625638"/>
                  </a:lnTo>
                </a:path>
                <a:path w="3688715" h="1626235">
                  <a:moveTo>
                    <a:pt x="306958" y="0"/>
                  </a:moveTo>
                  <a:lnTo>
                    <a:pt x="306958" y="1625638"/>
                  </a:lnTo>
                </a:path>
                <a:path w="3688715" h="1626235">
                  <a:moveTo>
                    <a:pt x="614806" y="0"/>
                  </a:moveTo>
                  <a:lnTo>
                    <a:pt x="614806" y="1625638"/>
                  </a:lnTo>
                </a:path>
                <a:path w="3688715" h="1626235">
                  <a:moveTo>
                    <a:pt x="922654" y="0"/>
                  </a:moveTo>
                  <a:lnTo>
                    <a:pt x="922654" y="1625638"/>
                  </a:lnTo>
                </a:path>
                <a:path w="3688715" h="1626235">
                  <a:moveTo>
                    <a:pt x="1228978" y="0"/>
                  </a:moveTo>
                  <a:lnTo>
                    <a:pt x="1228978" y="1625638"/>
                  </a:lnTo>
                </a:path>
                <a:path w="3688715" h="1626235">
                  <a:moveTo>
                    <a:pt x="1536827" y="0"/>
                  </a:moveTo>
                  <a:lnTo>
                    <a:pt x="1536827" y="1625638"/>
                  </a:lnTo>
                </a:path>
                <a:path w="3688715" h="1626235">
                  <a:moveTo>
                    <a:pt x="2150999" y="0"/>
                  </a:moveTo>
                  <a:lnTo>
                    <a:pt x="2150999" y="1625638"/>
                  </a:lnTo>
                </a:path>
                <a:path w="3688715" h="1626235">
                  <a:moveTo>
                    <a:pt x="2458847" y="0"/>
                  </a:moveTo>
                  <a:lnTo>
                    <a:pt x="2458847" y="1625638"/>
                  </a:lnTo>
                </a:path>
                <a:path w="3688715" h="1626235">
                  <a:moveTo>
                    <a:pt x="2766695" y="0"/>
                  </a:moveTo>
                  <a:lnTo>
                    <a:pt x="2766695" y="1625638"/>
                  </a:lnTo>
                </a:path>
                <a:path w="3688715" h="1626235">
                  <a:moveTo>
                    <a:pt x="3073018" y="0"/>
                  </a:moveTo>
                  <a:lnTo>
                    <a:pt x="3073018" y="1625638"/>
                  </a:lnTo>
                </a:path>
                <a:path w="3688715" h="1626235">
                  <a:moveTo>
                    <a:pt x="3380866" y="0"/>
                  </a:moveTo>
                  <a:lnTo>
                    <a:pt x="3380866" y="1625638"/>
                  </a:lnTo>
                </a:path>
                <a:path w="3688715" h="1626235">
                  <a:moveTo>
                    <a:pt x="3688587" y="0"/>
                  </a:moveTo>
                  <a:lnTo>
                    <a:pt x="3688587" y="1625638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33893" y="3966629"/>
              <a:ext cx="3688715" cy="1625600"/>
            </a:xfrm>
            <a:custGeom>
              <a:avLst/>
              <a:gdLst/>
              <a:ahLst/>
              <a:cxnLst/>
              <a:rect l="l" t="t" r="r" b="b"/>
              <a:pathLst>
                <a:path w="3688715" h="1625600">
                  <a:moveTo>
                    <a:pt x="0" y="1625600"/>
                  </a:moveTo>
                  <a:lnTo>
                    <a:pt x="3688587" y="1625600"/>
                  </a:lnTo>
                  <a:lnTo>
                    <a:pt x="3688587" y="0"/>
                  </a:lnTo>
                  <a:lnTo>
                    <a:pt x="0" y="0"/>
                  </a:lnTo>
                  <a:lnTo>
                    <a:pt x="0" y="1625600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78186" y="3966591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h="1626235">
                  <a:moveTo>
                    <a:pt x="0" y="1625638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33893" y="5555995"/>
              <a:ext cx="3688715" cy="36830"/>
            </a:xfrm>
            <a:custGeom>
              <a:avLst/>
              <a:gdLst/>
              <a:ahLst/>
              <a:cxnLst/>
              <a:rect l="l" t="t" r="r" b="b"/>
              <a:pathLst>
                <a:path w="3688715" h="36829">
                  <a:moveTo>
                    <a:pt x="0" y="36233"/>
                  </a:moveTo>
                  <a:lnTo>
                    <a:pt x="3688587" y="36233"/>
                  </a:lnTo>
                </a:path>
                <a:path w="3688715" h="36829">
                  <a:moveTo>
                    <a:pt x="0" y="0"/>
                  </a:moveTo>
                  <a:lnTo>
                    <a:pt x="0" y="36233"/>
                  </a:lnTo>
                </a:path>
                <a:path w="3688715" h="36829">
                  <a:moveTo>
                    <a:pt x="306958" y="0"/>
                  </a:moveTo>
                  <a:lnTo>
                    <a:pt x="306958" y="36233"/>
                  </a:lnTo>
                </a:path>
                <a:path w="3688715" h="36829">
                  <a:moveTo>
                    <a:pt x="614806" y="0"/>
                  </a:moveTo>
                  <a:lnTo>
                    <a:pt x="614806" y="36233"/>
                  </a:lnTo>
                </a:path>
                <a:path w="3688715" h="36829">
                  <a:moveTo>
                    <a:pt x="922654" y="0"/>
                  </a:moveTo>
                  <a:lnTo>
                    <a:pt x="922654" y="36233"/>
                  </a:lnTo>
                </a:path>
                <a:path w="3688715" h="36829">
                  <a:moveTo>
                    <a:pt x="1228978" y="0"/>
                  </a:moveTo>
                  <a:lnTo>
                    <a:pt x="1228978" y="36233"/>
                  </a:lnTo>
                </a:path>
                <a:path w="3688715" h="36829">
                  <a:moveTo>
                    <a:pt x="1536827" y="0"/>
                  </a:moveTo>
                  <a:lnTo>
                    <a:pt x="1536827" y="36233"/>
                  </a:lnTo>
                </a:path>
                <a:path w="3688715" h="36829">
                  <a:moveTo>
                    <a:pt x="1844675" y="0"/>
                  </a:moveTo>
                  <a:lnTo>
                    <a:pt x="1844675" y="36233"/>
                  </a:lnTo>
                </a:path>
                <a:path w="3688715" h="36829">
                  <a:moveTo>
                    <a:pt x="2150999" y="0"/>
                  </a:moveTo>
                  <a:lnTo>
                    <a:pt x="2150999" y="36233"/>
                  </a:lnTo>
                </a:path>
                <a:path w="3688715" h="36829">
                  <a:moveTo>
                    <a:pt x="2458847" y="0"/>
                  </a:moveTo>
                  <a:lnTo>
                    <a:pt x="2458847" y="36233"/>
                  </a:lnTo>
                </a:path>
                <a:path w="3688715" h="36829">
                  <a:moveTo>
                    <a:pt x="2766695" y="0"/>
                  </a:moveTo>
                  <a:lnTo>
                    <a:pt x="2766695" y="36233"/>
                  </a:lnTo>
                </a:path>
                <a:path w="3688715" h="36829">
                  <a:moveTo>
                    <a:pt x="3073018" y="0"/>
                  </a:moveTo>
                  <a:lnTo>
                    <a:pt x="3073018" y="36233"/>
                  </a:lnTo>
                </a:path>
                <a:path w="3688715" h="36829">
                  <a:moveTo>
                    <a:pt x="3380866" y="0"/>
                  </a:moveTo>
                  <a:lnTo>
                    <a:pt x="3380866" y="36233"/>
                  </a:lnTo>
                </a:path>
                <a:path w="3688715" h="36829">
                  <a:moveTo>
                    <a:pt x="3688587" y="0"/>
                  </a:moveTo>
                  <a:lnTo>
                    <a:pt x="3688587" y="3623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41233" y="4136136"/>
              <a:ext cx="3074035" cy="1456690"/>
            </a:xfrm>
            <a:custGeom>
              <a:avLst/>
              <a:gdLst/>
              <a:ahLst/>
              <a:cxnLst/>
              <a:rect l="l" t="t" r="r" b="b"/>
              <a:pathLst>
                <a:path w="3074034" h="1456689">
                  <a:moveTo>
                    <a:pt x="0" y="1456093"/>
                  </a:moveTo>
                  <a:lnTo>
                    <a:pt x="14859" y="763524"/>
                  </a:lnTo>
                  <a:lnTo>
                    <a:pt x="30099" y="682751"/>
                  </a:lnTo>
                  <a:lnTo>
                    <a:pt x="46863" y="629412"/>
                  </a:lnTo>
                  <a:lnTo>
                    <a:pt x="62102" y="589788"/>
                  </a:lnTo>
                  <a:lnTo>
                    <a:pt x="153543" y="452627"/>
                  </a:lnTo>
                  <a:lnTo>
                    <a:pt x="231267" y="384047"/>
                  </a:lnTo>
                  <a:lnTo>
                    <a:pt x="307467" y="333756"/>
                  </a:lnTo>
                  <a:lnTo>
                    <a:pt x="383667" y="292607"/>
                  </a:lnTo>
                  <a:lnTo>
                    <a:pt x="461391" y="257556"/>
                  </a:lnTo>
                  <a:lnTo>
                    <a:pt x="537591" y="227075"/>
                  </a:lnTo>
                  <a:lnTo>
                    <a:pt x="615315" y="199644"/>
                  </a:lnTo>
                  <a:lnTo>
                    <a:pt x="691515" y="176783"/>
                  </a:lnTo>
                  <a:lnTo>
                    <a:pt x="769239" y="153924"/>
                  </a:lnTo>
                  <a:lnTo>
                    <a:pt x="845439" y="134112"/>
                  </a:lnTo>
                  <a:lnTo>
                    <a:pt x="921639" y="115824"/>
                  </a:lnTo>
                  <a:lnTo>
                    <a:pt x="999363" y="97536"/>
                  </a:lnTo>
                  <a:lnTo>
                    <a:pt x="1075563" y="80771"/>
                  </a:lnTo>
                  <a:lnTo>
                    <a:pt x="1153287" y="65531"/>
                  </a:lnTo>
                  <a:lnTo>
                    <a:pt x="1229487" y="51815"/>
                  </a:lnTo>
                  <a:lnTo>
                    <a:pt x="1305687" y="38100"/>
                  </a:lnTo>
                  <a:lnTo>
                    <a:pt x="1383411" y="24383"/>
                  </a:lnTo>
                  <a:lnTo>
                    <a:pt x="1459611" y="12191"/>
                  </a:lnTo>
                  <a:lnTo>
                    <a:pt x="1537335" y="0"/>
                  </a:lnTo>
                  <a:lnTo>
                    <a:pt x="1613535" y="12191"/>
                  </a:lnTo>
                  <a:lnTo>
                    <a:pt x="1691259" y="24383"/>
                  </a:lnTo>
                  <a:lnTo>
                    <a:pt x="1767459" y="38100"/>
                  </a:lnTo>
                  <a:lnTo>
                    <a:pt x="1843659" y="51815"/>
                  </a:lnTo>
                  <a:lnTo>
                    <a:pt x="1921383" y="65531"/>
                  </a:lnTo>
                  <a:lnTo>
                    <a:pt x="1997583" y="80771"/>
                  </a:lnTo>
                  <a:lnTo>
                    <a:pt x="2075307" y="97536"/>
                  </a:lnTo>
                  <a:lnTo>
                    <a:pt x="2151507" y="115824"/>
                  </a:lnTo>
                  <a:lnTo>
                    <a:pt x="2229231" y="134112"/>
                  </a:lnTo>
                  <a:lnTo>
                    <a:pt x="2305431" y="153924"/>
                  </a:lnTo>
                  <a:lnTo>
                    <a:pt x="2381631" y="176783"/>
                  </a:lnTo>
                  <a:lnTo>
                    <a:pt x="2459355" y="199644"/>
                  </a:lnTo>
                  <a:lnTo>
                    <a:pt x="2535555" y="227075"/>
                  </a:lnTo>
                  <a:lnTo>
                    <a:pt x="2613279" y="257556"/>
                  </a:lnTo>
                  <a:lnTo>
                    <a:pt x="2689479" y="292607"/>
                  </a:lnTo>
                  <a:lnTo>
                    <a:pt x="2765679" y="333756"/>
                  </a:lnTo>
                  <a:lnTo>
                    <a:pt x="2843403" y="384047"/>
                  </a:lnTo>
                  <a:lnTo>
                    <a:pt x="2919603" y="452627"/>
                  </a:lnTo>
                  <a:lnTo>
                    <a:pt x="2997327" y="559307"/>
                  </a:lnTo>
                  <a:lnTo>
                    <a:pt x="3027807" y="629412"/>
                  </a:lnTo>
                  <a:lnTo>
                    <a:pt x="3043047" y="682751"/>
                  </a:lnTo>
                  <a:lnTo>
                    <a:pt x="3058287" y="763524"/>
                  </a:lnTo>
                  <a:lnTo>
                    <a:pt x="3073781" y="145609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916291" y="5688406"/>
            <a:ext cx="3556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5"/>
              </a:lnSpc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676642" y="4446180"/>
            <a:ext cx="255270" cy="1554480"/>
          </a:xfrm>
          <a:custGeom>
            <a:avLst/>
            <a:gdLst/>
            <a:ahLst/>
            <a:cxnLst/>
            <a:rect l="l" t="t" r="r" b="b"/>
            <a:pathLst>
              <a:path w="255270" h="1554479">
                <a:moveTo>
                  <a:pt x="255143" y="0"/>
                </a:moveTo>
                <a:lnTo>
                  <a:pt x="0" y="0"/>
                </a:lnTo>
                <a:lnTo>
                  <a:pt x="0" y="1554352"/>
                </a:lnTo>
                <a:lnTo>
                  <a:pt x="255143" y="1554352"/>
                </a:lnTo>
                <a:lnTo>
                  <a:pt x="2551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719567" y="4468971"/>
            <a:ext cx="203835" cy="15068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>
                <a:latin typeface="Calibri"/>
                <a:cs typeface="Calibri"/>
              </a:rPr>
              <a:t>Radial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Velocity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(m/s)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39050" y="3278517"/>
            <a:ext cx="4324350" cy="294005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1443990" marR="746125" indent="-690880">
              <a:lnSpc>
                <a:spcPct val="102099"/>
              </a:lnSpc>
              <a:spcBef>
                <a:spcPts val="650"/>
              </a:spcBef>
            </a:pP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Empirical</a:t>
            </a:r>
            <a:r>
              <a:rPr sz="14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power</a:t>
            </a:r>
            <a:r>
              <a:rPr sz="14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law</a:t>
            </a:r>
            <a:r>
              <a:rPr sz="14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velocity</a:t>
            </a:r>
            <a:r>
              <a:rPr sz="14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profile</a:t>
            </a:r>
            <a:r>
              <a:rPr sz="14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85858"/>
                </a:solidFill>
                <a:latin typeface="Calibri"/>
                <a:cs typeface="Calibri"/>
              </a:rPr>
              <a:t>for </a:t>
            </a:r>
            <a:r>
              <a:rPr sz="1400" spc="-20" dirty="0">
                <a:solidFill>
                  <a:srgbClr val="585858"/>
                </a:solidFill>
                <a:latin typeface="Calibri"/>
                <a:cs typeface="Calibri"/>
              </a:rPr>
              <a:t>Turbulent</a:t>
            </a:r>
            <a:r>
              <a:rPr sz="14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Pipe</a:t>
            </a:r>
            <a:r>
              <a:rPr sz="14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85858"/>
                </a:solidFill>
                <a:latin typeface="Calibri"/>
                <a:cs typeface="Calibri"/>
              </a:rPr>
              <a:t>Flow</a:t>
            </a:r>
            <a:endParaRPr sz="1400">
              <a:latin typeface="Calibri"/>
              <a:cs typeface="Calibri"/>
            </a:endParaRPr>
          </a:p>
          <a:p>
            <a:pPr marR="2181860" algn="r">
              <a:lnSpc>
                <a:spcPts val="994"/>
              </a:lnSpc>
              <a:spcBef>
                <a:spcPts val="695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1.4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1.3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1.2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1.1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0.9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0.8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0.7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0.6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0.5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0.4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0.3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0.2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15"/>
              </a:lnSpc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0.1</a:t>
            </a:r>
            <a:endParaRPr sz="900">
              <a:latin typeface="Calibri"/>
              <a:cs typeface="Calibri"/>
            </a:endParaRPr>
          </a:p>
          <a:p>
            <a:pPr marR="2181860" algn="r">
              <a:lnSpc>
                <a:spcPts val="994"/>
              </a:lnSpc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  <a:p>
            <a:pPr marL="311785">
              <a:lnSpc>
                <a:spcPct val="100000"/>
              </a:lnSpc>
              <a:spcBef>
                <a:spcPts val="90"/>
              </a:spcBef>
              <a:tabLst>
                <a:tab pos="2211070" algn="l"/>
                <a:tab pos="2446020" algn="l"/>
                <a:tab pos="3704590" algn="l"/>
                <a:tab pos="3983354" algn="l"/>
              </a:tabLst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0.12</a:t>
            </a:r>
            <a:r>
              <a:rPr sz="900" spc="185" dirty="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-0.1</a:t>
            </a:r>
            <a:r>
              <a:rPr sz="900" spc="190" dirty="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-0.08</a:t>
            </a:r>
            <a:r>
              <a:rPr sz="900" spc="3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-0.06</a:t>
            </a:r>
            <a:r>
              <a:rPr sz="900" spc="3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-0.04</a:t>
            </a:r>
            <a:r>
              <a:rPr sz="900" spc="3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0.02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	0.02</a:t>
            </a:r>
            <a:r>
              <a:rPr sz="900" spc="210" dirty="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0.04</a:t>
            </a:r>
            <a:r>
              <a:rPr sz="900" spc="210" dirty="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0.06</a:t>
            </a:r>
            <a:r>
              <a:rPr sz="900" spc="215" dirty="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0.08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0.1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0.12</a:t>
            </a:r>
            <a:endParaRPr sz="900">
              <a:latin typeface="Calibri"/>
              <a:cs typeface="Calibri"/>
            </a:endParaRPr>
          </a:p>
          <a:p>
            <a:pPr marL="156845" algn="ctr">
              <a:lnSpc>
                <a:spcPct val="100000"/>
              </a:lnSpc>
              <a:spcBef>
                <a:spcPts val="300"/>
              </a:spcBef>
            </a:pPr>
            <a:r>
              <a:rPr sz="1400" dirty="0">
                <a:latin typeface="Calibri"/>
                <a:cs typeface="Calibri"/>
              </a:rPr>
              <a:t>Radial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Location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(m)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9850" y="3178619"/>
            <a:ext cx="990600" cy="3496817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4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4571" y="-15815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857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Geometry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2295" y="1202181"/>
            <a:ext cx="5480685" cy="29206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Design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modeler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20"/>
              </a:spcBef>
              <a:buFont typeface="Arial MT"/>
              <a:buChar char="•"/>
            </a:pPr>
            <a:endParaRPr sz="2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Length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16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meter 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0.2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L/D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80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30"/>
              </a:spcBef>
              <a:buFont typeface="Arial MT"/>
              <a:buChar char="•"/>
            </a:pPr>
            <a:endParaRPr sz="2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Full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modeled.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Arial MT"/>
              <a:buChar char="•"/>
            </a:pPr>
            <a:endParaRPr sz="2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spc="-40" dirty="0">
                <a:latin typeface="Calibri"/>
                <a:cs typeface="Calibri"/>
              </a:rPr>
              <a:t>You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90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deg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30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deg</a:t>
            </a:r>
            <a:r>
              <a:rPr sz="2200" spc="-10" dirty="0">
                <a:latin typeface="Calibri"/>
                <a:cs typeface="Calibri"/>
              </a:rPr>
              <a:t> sector.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5031" y="1406652"/>
            <a:ext cx="5179186" cy="29872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7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10302" y="242442"/>
            <a:ext cx="1759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Meshing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41FE2A-6803-E933-604E-4C9830A6D03C}"/>
              </a:ext>
            </a:extLst>
          </p:cNvPr>
          <p:cNvSpPr txBox="1"/>
          <p:nvPr/>
        </p:nvSpPr>
        <p:spPr>
          <a:xfrm>
            <a:off x="2438400" y="953216"/>
            <a:ext cx="77724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• Meshing in ANSYS Meshing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• V = 1 m/s, ρ = 1000 kg/ m³, μ = 0.02 kg/(m s)</a:t>
            </a:r>
          </a:p>
          <a:p>
            <a:r>
              <a:rPr lang="en-US" dirty="0">
                <a:latin typeface="+mn-lt"/>
              </a:rPr>
              <a:t>• L = 16 m , D = 0.2 m</a:t>
            </a:r>
          </a:p>
          <a:p>
            <a:r>
              <a:rPr lang="en-US" dirty="0">
                <a:latin typeface="+mn-lt"/>
              </a:rPr>
              <a:t>• Re = 10,000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• For first cell height, I will use inbuilt Y+ calculator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• Cf = 0.079 / Re^(1/5); 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Cf = 0.079 / (10000)^(0.25) = 0.079 / 10 = 0.0079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• </a:t>
            </a:r>
            <a:r>
              <a:rPr lang="en-US" dirty="0" err="1">
                <a:latin typeface="+mn-lt"/>
              </a:rPr>
              <a:t>cf</a:t>
            </a:r>
            <a:r>
              <a:rPr lang="en-US" dirty="0">
                <a:latin typeface="+mn-lt"/>
              </a:rPr>
              <a:t> = </a:t>
            </a:r>
            <a:r>
              <a:rPr lang="en-US" dirty="0" err="1">
                <a:latin typeface="+mn-lt"/>
              </a:rPr>
              <a:t>τw</a:t>
            </a:r>
            <a:r>
              <a:rPr lang="en-US" dirty="0">
                <a:latin typeface="+mn-lt"/>
              </a:rPr>
              <a:t> / (0.5 * ρ * Vavg^2)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• </a:t>
            </a:r>
            <a:r>
              <a:rPr lang="en-US" dirty="0" err="1">
                <a:latin typeface="+mn-lt"/>
              </a:rPr>
              <a:t>τw</a:t>
            </a:r>
            <a:r>
              <a:rPr lang="en-US" dirty="0">
                <a:latin typeface="+mn-lt"/>
              </a:rPr>
              <a:t> = 0.5 * ρ * u^2 * </a:t>
            </a:r>
            <a:r>
              <a:rPr lang="en-US" dirty="0" err="1">
                <a:latin typeface="+mn-lt"/>
              </a:rPr>
              <a:t>cf</a:t>
            </a:r>
            <a:r>
              <a:rPr lang="en-US" dirty="0">
                <a:latin typeface="+mn-lt"/>
              </a:rPr>
              <a:t> = 0.5 * 1000 * 0.0079 = 3.95 Pa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• </a:t>
            </a:r>
            <a:r>
              <a:rPr lang="en-US" dirty="0" err="1">
                <a:latin typeface="+mn-lt"/>
              </a:rPr>
              <a:t>cf</a:t>
            </a:r>
            <a:r>
              <a:rPr lang="en-US" dirty="0">
                <a:latin typeface="+mn-lt"/>
              </a:rPr>
              <a:t> = f / 4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• Friction velocity </a:t>
            </a:r>
            <a:r>
              <a:rPr lang="en-US" dirty="0" err="1">
                <a:latin typeface="+mn-lt"/>
              </a:rPr>
              <a:t>uτ</a:t>
            </a:r>
            <a:r>
              <a:rPr lang="en-US" dirty="0">
                <a:latin typeface="+mn-lt"/>
              </a:rPr>
              <a:t> = √(</a:t>
            </a:r>
            <a:r>
              <a:rPr lang="en-US" dirty="0" err="1">
                <a:latin typeface="+mn-lt"/>
              </a:rPr>
              <a:t>τw</a:t>
            </a:r>
            <a:r>
              <a:rPr lang="en-US" dirty="0">
                <a:latin typeface="+mn-lt"/>
              </a:rPr>
              <a:t> / ρ) = 0.062849 m/sec</a:t>
            </a:r>
          </a:p>
        </p:txBody>
      </p:sp>
      <p:sp>
        <p:nvSpPr>
          <p:cNvPr id="60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Meshing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4985" y="1600200"/>
            <a:ext cx="4648200" cy="93679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5"/>
              </a:spcBef>
            </a:pPr>
            <a:r>
              <a:rPr sz="2000" dirty="0">
                <a:latin typeface="Calibri"/>
                <a:cs typeface="Calibri"/>
              </a:rPr>
              <a:t>V= 1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m/s,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ρ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1000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kg/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 </a:t>
            </a:r>
            <a:r>
              <a:rPr sz="2000" baseline="25462" dirty="0">
                <a:latin typeface="Calibri"/>
                <a:cs typeface="Calibri"/>
              </a:rPr>
              <a:t>3</a:t>
            </a:r>
            <a:r>
              <a:rPr sz="2000" dirty="0">
                <a:latin typeface="Calibri"/>
                <a:cs typeface="Calibri"/>
              </a:rPr>
              <a:t>, µ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0.02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kg/(m </a:t>
            </a:r>
            <a:r>
              <a:rPr sz="2000" spc="-25" dirty="0">
                <a:latin typeface="Calibri"/>
                <a:cs typeface="Calibri"/>
              </a:rPr>
              <a:t>s)</a:t>
            </a:r>
            <a:endParaRPr sz="2000" dirty="0">
              <a:latin typeface="Calibri"/>
              <a:cs typeface="Calibri"/>
            </a:endParaRPr>
          </a:p>
          <a:p>
            <a:pPr marL="1458595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Calibri"/>
                <a:cs typeface="Calibri"/>
              </a:rPr>
              <a:t>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16 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0.2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m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7581CE-A7F4-377F-24D0-D9ECD26DCEFC}"/>
              </a:ext>
            </a:extLst>
          </p:cNvPr>
          <p:cNvSpPr txBox="1"/>
          <p:nvPr/>
        </p:nvSpPr>
        <p:spPr>
          <a:xfrm>
            <a:off x="2362200" y="2817840"/>
            <a:ext cx="6094562" cy="173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• y^+ = (y * </a:t>
            </a:r>
            <a:r>
              <a:rPr lang="en-US" sz="20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uτ</a:t>
            </a:r>
            <a:r>
              <a:rPr lang="en-US" sz="20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* ρ) / μ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• y = (y^+ * μ) / (</a:t>
            </a:r>
            <a:r>
              <a:rPr lang="en-US" sz="20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uτ</a:t>
            </a:r>
            <a:r>
              <a:rPr lang="en-US" sz="20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* ρ) = (1 * 0.02) / (0.062849 * 1000) = 0.000318229 m = 0.318 mm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• First cell height = 0.000318229 meters or 0.318 mm</a:t>
            </a:r>
          </a:p>
        </p:txBody>
      </p:sp>
      <p:sp>
        <p:nvSpPr>
          <p:cNvPr id="72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Meshing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4255" y="1283589"/>
            <a:ext cx="10561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ansys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meshing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(sweep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directly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height.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Instead,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factor,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division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length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edge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5594" y="2027554"/>
            <a:ext cx="3026282" cy="2802890"/>
          </a:xfrm>
          <a:prstGeom prst="rect">
            <a:avLst/>
          </a:prstGeom>
        </p:spPr>
      </p:pic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F2E2CA-40E5-7C93-FBB9-536A92014B98}"/>
              </a:ext>
            </a:extLst>
          </p:cNvPr>
          <p:cNvSpPr txBox="1"/>
          <p:nvPr/>
        </p:nvSpPr>
        <p:spPr>
          <a:xfrm>
            <a:off x="1447800" y="2291012"/>
            <a:ext cx="4409745" cy="1724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• L = Σ l1 * </a:t>
            </a:r>
            <a:r>
              <a:rPr lang="en-US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r^i</a:t>
            </a:r>
            <a:r>
              <a:rPr lang="en-US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= l1 * (1 - </a:t>
            </a:r>
            <a:r>
              <a:rPr lang="en-US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r^n</a:t>
            </a:r>
            <a:r>
              <a:rPr lang="en-US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 / (1 - r)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• L = Edge length = 0.043431 m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• n = number of divisions = 22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• l1 = First cell height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89EFCDA-D70A-BB95-D6C9-2DC03FAE6467}"/>
              </a:ext>
            </a:extLst>
          </p:cNvPr>
          <p:cNvCxnSpPr>
            <a:cxnSpLocks/>
          </p:cNvCxnSpPr>
          <p:nvPr/>
        </p:nvCxnSpPr>
        <p:spPr>
          <a:xfrm flipH="1" flipV="1">
            <a:off x="10058400" y="2895600"/>
            <a:ext cx="762000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03A17D5-DF68-453C-0B95-0CBD7DB6B1C5}"/>
              </a:ext>
            </a:extLst>
          </p:cNvPr>
          <p:cNvSpPr txBox="1"/>
          <p:nvPr/>
        </p:nvSpPr>
        <p:spPr>
          <a:xfrm>
            <a:off x="10166019" y="4252459"/>
            <a:ext cx="1753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0.043431 m</a:t>
            </a:r>
            <a:endParaRPr lang="en-US" dirty="0"/>
          </a:p>
        </p:txBody>
      </p:sp>
      <p:sp>
        <p:nvSpPr>
          <p:cNvPr id="54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Meshing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68C219E-A534-A4BC-DAE7-CC9A3EDE2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950232"/>
              </p:ext>
            </p:extLst>
          </p:nvPr>
        </p:nvGraphicFramePr>
        <p:xfrm>
          <a:off x="2667000" y="4569854"/>
          <a:ext cx="5943600" cy="155448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492801518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399120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Term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Definition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616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</a:t>
                      </a:r>
                      <a:r>
                        <a:rPr lang="en-US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First element length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76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</a:t>
                      </a:r>
                      <a:r>
                        <a:rPr lang="en-US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Last element length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114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Growth rate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05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 of divisions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712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edge length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658007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FA6AE2D-EBFC-82CB-8263-74321BCFFCFE}"/>
              </a:ext>
            </a:extLst>
          </p:cNvPr>
          <p:cNvSpPr txBox="1"/>
          <p:nvPr/>
        </p:nvSpPr>
        <p:spPr>
          <a:xfrm>
            <a:off x="1981200" y="956808"/>
            <a:ext cx="8763000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125"/>
              </a:spcAft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n-lt"/>
              </a:rPr>
              <a:t>Meshing Formulas</a:t>
            </a:r>
            <a:endParaRPr lang="en-US" sz="2000" b="1" dirty="0">
              <a:effectLst/>
              <a:latin typeface="+mn-lt"/>
            </a:endParaRPr>
          </a:p>
          <a:p>
            <a:pPr rtl="0">
              <a:buNone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The following equations govern the distribution of elements along the edge to ensure accurate boundary layer simulation:</a:t>
            </a:r>
            <a:endParaRPr lang="en-US" sz="2000" b="0" dirty="0">
              <a:effectLst/>
              <a:latin typeface="+mn-lt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n-lt"/>
              </a:rPr>
              <a:t>Bias Factor (BF):</a:t>
            </a:r>
            <a:b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BF = l</a:t>
            </a:r>
            <a:r>
              <a:rPr lang="en-US" sz="2000" b="0" i="0" u="none" strike="noStrike" baseline="-25000" dirty="0">
                <a:solidFill>
                  <a:srgbClr val="000000"/>
                </a:solidFill>
                <a:effectLst/>
                <a:latin typeface="+mn-lt"/>
              </a:rPr>
              <a:t>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 / l</a:t>
            </a:r>
            <a:r>
              <a:rPr lang="en-US" sz="2000" b="0" i="0" u="none" strike="noStrike" baseline="-25000" dirty="0">
                <a:solidFill>
                  <a:srgbClr val="000000"/>
                </a:solidFill>
                <a:effectLst/>
                <a:latin typeface="+mn-lt"/>
              </a:rPr>
              <a:t>1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 = r</a:t>
            </a:r>
            <a:r>
              <a:rPr lang="en-US" sz="2000" b="0" i="0" u="none" strike="noStrike" baseline="30000" dirty="0">
                <a:solidFill>
                  <a:srgbClr val="000000"/>
                </a:solidFill>
                <a:effectLst/>
                <a:latin typeface="+mn-lt"/>
              </a:rPr>
              <a:t>n-1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+mn-lt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n-lt"/>
              </a:rPr>
              <a:t>Growth Rate (r):</a:t>
            </a:r>
            <a:b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r = (BF)</a:t>
            </a:r>
            <a:r>
              <a:rPr lang="en-US" sz="2000" b="0" i="0" u="none" strike="noStrike" baseline="30000" dirty="0">
                <a:solidFill>
                  <a:srgbClr val="000000"/>
                </a:solidFill>
                <a:effectLst/>
                <a:latin typeface="+mn-lt"/>
              </a:rPr>
              <a:t>1/(n-1)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+mn-lt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n-lt"/>
              </a:rPr>
              <a:t>First Element Length (l</a:t>
            </a:r>
            <a:r>
              <a:rPr lang="en-US" sz="2000" b="1" i="0" u="none" strike="noStrike" baseline="-25000" dirty="0">
                <a:solidFill>
                  <a:srgbClr val="000000"/>
                </a:solidFill>
                <a:effectLst/>
                <a:latin typeface="+mn-lt"/>
              </a:rPr>
              <a:t>1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n-lt"/>
              </a:rPr>
              <a:t>):</a:t>
            </a:r>
            <a:b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l</a:t>
            </a:r>
            <a:r>
              <a:rPr lang="en-US" sz="2000" b="0" i="0" u="none" strike="noStrike" baseline="-25000" dirty="0">
                <a:solidFill>
                  <a:srgbClr val="000000"/>
                </a:solidFill>
                <a:effectLst/>
                <a:latin typeface="+mn-lt"/>
              </a:rPr>
              <a:t>1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 = [L * (1 - r)] / (1 -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r</a:t>
            </a:r>
            <a:r>
              <a:rPr lang="en-US" sz="2000" b="0" i="0" u="none" strike="noStrike" baseline="30000" dirty="0" err="1">
                <a:solidFill>
                  <a:srgbClr val="000000"/>
                </a:solidFill>
                <a:effectLst/>
                <a:latin typeface="+mn-lt"/>
              </a:rPr>
              <a:t>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n-lt"/>
              </a:rPr>
              <a:t>)</a:t>
            </a:r>
          </a:p>
          <a:p>
            <a:pPr rt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+mn-lt"/>
              </a:rPr>
              <a:t>3. Terminology</a:t>
            </a:r>
            <a:endParaRPr lang="en-US" sz="2000" b="1" dirty="0">
              <a:effectLst/>
              <a:latin typeface="+mn-lt"/>
            </a:endParaRPr>
          </a:p>
        </p:txBody>
      </p:sp>
      <p:sp>
        <p:nvSpPr>
          <p:cNvPr id="28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Meshing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F0B6A6-6DB7-6F58-045D-7BC6869B7A7E}"/>
              </a:ext>
            </a:extLst>
          </p:cNvPr>
          <p:cNvSpPr txBox="1"/>
          <p:nvPr/>
        </p:nvSpPr>
        <p:spPr>
          <a:xfrm>
            <a:off x="2438400" y="1295400"/>
            <a:ext cx="9220200" cy="355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+mn-lt"/>
              </a:rPr>
              <a:t>Calculated Parameters for Turbulent Pipe Flow</a:t>
            </a:r>
            <a:endParaRPr lang="en-US" sz="2400" b="1" dirty="0">
              <a:effectLst/>
              <a:latin typeface="+mn-lt"/>
            </a:endParaRPr>
          </a:p>
          <a:p>
            <a:pPr rtl="0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n-lt"/>
              </a:rPr>
              <a:t>Based on the CFD validation requirements (Re = 10,000), </a:t>
            </a:r>
          </a:p>
          <a:p>
            <a:pPr rtl="0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n-lt"/>
              </a:rPr>
              <a:t>the following parameters were utilized for the mesh generation:</a:t>
            </a:r>
          </a:p>
          <a:p>
            <a:pPr rtl="0">
              <a:buNone/>
            </a:pPr>
            <a:endParaRPr lang="en-US" sz="2400" b="0" dirty="0">
              <a:effectLst/>
              <a:latin typeface="+mn-lt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+mn-lt"/>
              </a:rPr>
              <a:t>Target First Cell Height (l</a:t>
            </a:r>
            <a:r>
              <a:rPr lang="en-US" sz="2400" b="1" i="0" u="none" strike="noStrike" baseline="-25000" dirty="0">
                <a:solidFill>
                  <a:srgbClr val="000000"/>
                </a:solidFill>
                <a:effectLst/>
                <a:latin typeface="+mn-lt"/>
              </a:rPr>
              <a:t>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+mn-lt"/>
              </a:rPr>
              <a:t>):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n-lt"/>
              </a:rPr>
              <a:t> 0.000318 m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+mn-lt"/>
              </a:rPr>
              <a:t>Edge Length (L):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n-lt"/>
              </a:rPr>
              <a:t> 0.043431 m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+mn-lt"/>
              </a:rPr>
              <a:t>Growth Rate (r):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n-lt"/>
              </a:rPr>
              <a:t> 1.15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+mn-lt"/>
              </a:rPr>
              <a:t>Number of Divisions (n):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n-lt"/>
              </a:rPr>
              <a:t> 22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+mn-lt"/>
              </a:rPr>
              <a:t>Bias Factor (BF):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n-lt"/>
              </a:rPr>
              <a:t> 19</a:t>
            </a:r>
          </a:p>
        </p:txBody>
      </p:sp>
      <p:sp>
        <p:nvSpPr>
          <p:cNvPr id="31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Meshing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535" y="1207071"/>
            <a:ext cx="9085961" cy="51108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Meshing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3590" y="1469516"/>
            <a:ext cx="37973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cells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72000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Min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orthogonal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quality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0.735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height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0.000318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Y+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~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58432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= 0.00318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Y+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~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4485" y="2883916"/>
            <a:ext cx="3529710" cy="23186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7672" y="1961895"/>
            <a:ext cx="6502019" cy="34544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9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40833" y="356108"/>
            <a:ext cx="1555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Microsoft Sans Serif"/>
                <a:cs typeface="Microsoft Sans Serif"/>
              </a:rPr>
              <a:t>Results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084580" y="1298828"/>
            <a:ext cx="394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dirty="0">
                <a:latin typeface="Calibri"/>
                <a:cs typeface="Calibri"/>
              </a:rPr>
              <a:t>Darcy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friction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factor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14</a:t>
            </a:r>
            <a:r>
              <a:rPr sz="2400" b="1" spc="-50" dirty="0">
                <a:latin typeface="Calibri"/>
                <a:cs typeface="Calibri"/>
              </a:rPr>
              <a:t> m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17366" y="2427351"/>
          <a:ext cx="6125845" cy="1989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629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Error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CFD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433705" algn="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0.0325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1882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5.22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%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Empirical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(S.E.</a:t>
                      </a:r>
                      <a:r>
                        <a:rPr sz="1800" b="1" spc="-3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Haaland</a:t>
                      </a:r>
                      <a:r>
                        <a:rPr sz="1800" b="1" spc="-2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1983)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428625" algn="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10" dirty="0">
                          <a:solidFill>
                            <a:srgbClr val="001F5F"/>
                          </a:solidFill>
                          <a:latin typeface="Cambria Math"/>
                          <a:cs typeface="Cambria Math"/>
                        </a:rPr>
                        <a:t>𝟎.</a:t>
                      </a:r>
                      <a:r>
                        <a:rPr sz="1800" spc="-85" dirty="0">
                          <a:solidFill>
                            <a:srgbClr val="001F5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20" dirty="0">
                          <a:solidFill>
                            <a:srgbClr val="001F5F"/>
                          </a:solidFill>
                          <a:latin typeface="Cambria Math"/>
                          <a:cs typeface="Cambria Math"/>
                        </a:rPr>
                        <a:t>𝟎𝟑𝟎𝟖</a:t>
                      </a:r>
                      <a:endParaRPr sz="1800" dirty="0">
                        <a:latin typeface="Cambria Math"/>
                        <a:cs typeface="Cambria Math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40833" y="356108"/>
            <a:ext cx="1555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Microsoft Sans Serif"/>
                <a:cs typeface="Microsoft Sans Serif"/>
              </a:rPr>
              <a:t>Results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071880" y="1298828"/>
            <a:ext cx="4269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53365" algn="l"/>
              </a:tabLst>
            </a:pPr>
            <a:r>
              <a:rPr sz="2400" b="1" dirty="0">
                <a:latin typeface="Calibri"/>
                <a:cs typeface="Calibri"/>
              </a:rPr>
              <a:t>Coefficient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friction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baseline="-20833" dirty="0">
                <a:latin typeface="Calibri"/>
                <a:cs typeface="Calibri"/>
              </a:rPr>
              <a:t>f</a:t>
            </a:r>
            <a:r>
              <a:rPr sz="2400" b="1" spc="225" baseline="-2083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14</a:t>
            </a:r>
            <a:r>
              <a:rPr sz="2400" b="1" spc="-50" dirty="0">
                <a:latin typeface="Calibri"/>
                <a:cs typeface="Calibri"/>
              </a:rPr>
              <a:t> m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17366" y="2427351"/>
          <a:ext cx="6125845" cy="1989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629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Error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CFD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368935" algn="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0.00812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1882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5.18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%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Empirical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(S.E.</a:t>
                      </a:r>
                      <a:r>
                        <a:rPr sz="1800" b="1" spc="-3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Haaland</a:t>
                      </a:r>
                      <a:r>
                        <a:rPr sz="1800" b="1" spc="-25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1983)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333375" algn="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b="1" spc="-1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800" spc="-10" dirty="0">
                          <a:solidFill>
                            <a:srgbClr val="001F5F"/>
                          </a:solidFill>
                          <a:latin typeface="Cambria Math"/>
                          <a:cs typeface="Cambria Math"/>
                        </a:rPr>
                        <a:t>.</a:t>
                      </a:r>
                      <a:r>
                        <a:rPr sz="1800" spc="-85" dirty="0">
                          <a:solidFill>
                            <a:srgbClr val="001F5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20" dirty="0">
                          <a:solidFill>
                            <a:srgbClr val="001F5F"/>
                          </a:solidFill>
                          <a:latin typeface="Cambria Math"/>
                          <a:cs typeface="Cambria Math"/>
                        </a:rPr>
                        <a:t>𝟎𝟎𝟕𝟕𝟐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40833" y="356108"/>
            <a:ext cx="1555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Microsoft Sans Serif"/>
                <a:cs typeface="Microsoft Sans Serif"/>
              </a:rPr>
              <a:t>Results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99233" y="3416045"/>
            <a:ext cx="1391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%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1459" y="4078478"/>
            <a:ext cx="7931150" cy="13705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71880" y="1289685"/>
            <a:ext cx="5172710" cy="166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3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53365" algn="l"/>
              </a:tabLst>
            </a:pPr>
            <a:r>
              <a:rPr sz="2800" b="1" spc="-10" dirty="0">
                <a:latin typeface="Calibri"/>
                <a:cs typeface="Calibri"/>
              </a:rPr>
              <a:t>Pressure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drop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(from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6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16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m)</a:t>
            </a:r>
            <a:endParaRPr sz="2800">
              <a:latin typeface="Calibri"/>
              <a:cs typeface="Calibri"/>
            </a:endParaRPr>
          </a:p>
          <a:p>
            <a:pPr marL="335915">
              <a:lnSpc>
                <a:spcPct val="100000"/>
              </a:lnSpc>
              <a:spcBef>
                <a:spcPts val="1805"/>
              </a:spcBef>
            </a:pPr>
            <a:r>
              <a:rPr sz="2400" dirty="0">
                <a:latin typeface="Cambria Math"/>
                <a:cs typeface="Cambria Math"/>
              </a:rPr>
              <a:t>∆𝑃</a:t>
            </a:r>
            <a:r>
              <a:rPr sz="2625" baseline="-15873" dirty="0">
                <a:latin typeface="Cambria Math"/>
                <a:cs typeface="Cambria Math"/>
              </a:rPr>
              <a:t>𝐶𝐹𝐷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811.705</a:t>
            </a:r>
            <a:r>
              <a:rPr sz="2400" spc="-5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𝑃𝑎</a:t>
            </a:r>
            <a:endParaRPr sz="2400">
              <a:latin typeface="Cambria Math"/>
              <a:cs typeface="Cambria Math"/>
            </a:endParaRPr>
          </a:p>
          <a:p>
            <a:pPr marL="238125">
              <a:lnSpc>
                <a:spcPct val="100000"/>
              </a:lnSpc>
              <a:spcBef>
                <a:spcPts val="1950"/>
              </a:spcBef>
            </a:pPr>
            <a:r>
              <a:rPr sz="2400" spc="55" dirty="0">
                <a:latin typeface="Cambria Math"/>
                <a:cs typeface="Cambria Math"/>
              </a:rPr>
              <a:t>∆𝑃</a:t>
            </a:r>
            <a:r>
              <a:rPr sz="2625" spc="82" baseline="-15873" dirty="0">
                <a:latin typeface="Cambria Math"/>
                <a:cs typeface="Cambria Math"/>
              </a:rPr>
              <a:t>𝐸𝑚𝑝𝑖𝑟𝑖𝑐𝑎𝑙</a:t>
            </a:r>
            <a:r>
              <a:rPr sz="2400" spc="55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772.15</a:t>
            </a:r>
            <a:r>
              <a:rPr sz="2400" spc="-25" dirty="0">
                <a:latin typeface="Cambria Math"/>
                <a:cs typeface="Cambria Math"/>
              </a:rPr>
              <a:t> 𝑃𝑎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37122" y="3272281"/>
            <a:ext cx="5118100" cy="1551940"/>
          </a:xfrm>
          <a:custGeom>
            <a:avLst/>
            <a:gdLst/>
            <a:ahLst/>
            <a:cxnLst/>
            <a:rect l="l" t="t" r="r" b="b"/>
            <a:pathLst>
              <a:path w="5118100" h="1551939">
                <a:moveTo>
                  <a:pt x="438785" y="798830"/>
                </a:moveTo>
                <a:lnTo>
                  <a:pt x="388493" y="771779"/>
                </a:lnTo>
                <a:lnTo>
                  <a:pt x="56210" y="1387538"/>
                </a:lnTo>
                <a:lnTo>
                  <a:pt x="5969" y="1360424"/>
                </a:lnTo>
                <a:lnTo>
                  <a:pt x="0" y="1551940"/>
                </a:lnTo>
                <a:lnTo>
                  <a:pt x="156845" y="1441831"/>
                </a:lnTo>
                <a:lnTo>
                  <a:pt x="153073" y="1439799"/>
                </a:lnTo>
                <a:lnTo>
                  <a:pt x="106514" y="1414678"/>
                </a:lnTo>
                <a:lnTo>
                  <a:pt x="438785" y="798830"/>
                </a:lnTo>
                <a:close/>
              </a:path>
              <a:path w="5118100" h="1551939">
                <a:moveTo>
                  <a:pt x="5118100" y="22225"/>
                </a:moveTo>
                <a:lnTo>
                  <a:pt x="5065395" y="0"/>
                </a:lnTo>
                <a:lnTo>
                  <a:pt x="4711116" y="840562"/>
                </a:lnTo>
                <a:lnTo>
                  <a:pt x="4658487" y="818388"/>
                </a:lnTo>
                <a:lnTo>
                  <a:pt x="4670806" y="1009650"/>
                </a:lnTo>
                <a:lnTo>
                  <a:pt x="4811573" y="889127"/>
                </a:lnTo>
                <a:lnTo>
                  <a:pt x="4816475" y="884936"/>
                </a:lnTo>
                <a:lnTo>
                  <a:pt x="4763821" y="862774"/>
                </a:lnTo>
                <a:lnTo>
                  <a:pt x="5118100" y="222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59678" y="3689667"/>
            <a:ext cx="1582420" cy="400685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4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235"/>
              </a:spcBef>
            </a:pPr>
            <a:r>
              <a:rPr sz="2000" b="1" dirty="0">
                <a:latin typeface="Calibri"/>
                <a:cs typeface="Calibri"/>
              </a:rPr>
              <a:t>Plan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at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6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8384" y="2889135"/>
            <a:ext cx="2078989" cy="708025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4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779780" marR="302260" indent="-469900">
              <a:lnSpc>
                <a:spcPct val="100000"/>
              </a:lnSpc>
              <a:spcBef>
                <a:spcPts val="235"/>
              </a:spcBef>
            </a:pPr>
            <a:r>
              <a:rPr sz="2000" b="1" dirty="0">
                <a:latin typeface="Calibri"/>
                <a:cs typeface="Calibri"/>
              </a:rPr>
              <a:t>Plan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at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Outlet </a:t>
            </a:r>
            <a:r>
              <a:rPr sz="2000" b="1" dirty="0">
                <a:latin typeface="Calibri"/>
                <a:cs typeface="Calibri"/>
              </a:rPr>
              <a:t>16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4253" y="5625871"/>
            <a:ext cx="9825990" cy="646430"/>
          </a:xfrm>
          <a:prstGeom prst="rect">
            <a:avLst/>
          </a:prstGeom>
          <a:solidFill>
            <a:srgbClr val="4471C4"/>
          </a:solidFill>
          <a:ln w="12700">
            <a:solidFill>
              <a:srgbClr val="172C51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Please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note,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compared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pressure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empirical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formulas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region.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27147" y="171703"/>
            <a:ext cx="617537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377950" marR="5080" indent="-1365885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latin typeface="Microsoft Sans Serif"/>
                <a:cs typeface="Microsoft Sans Serif"/>
              </a:rPr>
              <a:t>Velocity</a:t>
            </a:r>
            <a:r>
              <a:rPr sz="3200" spc="-3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profile</a:t>
            </a:r>
            <a:r>
              <a:rPr sz="3200" spc="-1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with</a:t>
            </a:r>
            <a:r>
              <a:rPr sz="3200" spc="-1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Medium</a:t>
            </a:r>
            <a:r>
              <a:rPr sz="3200" spc="-10" dirty="0">
                <a:latin typeface="Microsoft Sans Serif"/>
                <a:cs typeface="Microsoft Sans Serif"/>
              </a:rPr>
              <a:t> </a:t>
            </a:r>
            <a:r>
              <a:rPr sz="3200" spc="-20" dirty="0">
                <a:latin typeface="Microsoft Sans Serif"/>
                <a:cs typeface="Microsoft Sans Serif"/>
              </a:rPr>
              <a:t>Mesh </a:t>
            </a:r>
            <a:r>
              <a:rPr sz="3200" dirty="0">
                <a:latin typeface="Microsoft Sans Serif"/>
                <a:cs typeface="Microsoft Sans Serif"/>
              </a:rPr>
              <a:t>Y+</a:t>
            </a:r>
            <a:r>
              <a:rPr sz="3200" spc="-4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=</a:t>
            </a:r>
            <a:r>
              <a:rPr sz="3200" spc="-2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1,</a:t>
            </a:r>
            <a:r>
              <a:rPr sz="3200" spc="-2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SST</a:t>
            </a:r>
            <a:r>
              <a:rPr sz="3200" spc="-4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model</a:t>
            </a:r>
            <a:endParaRPr sz="32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40039" y="2435034"/>
            <a:ext cx="8314055" cy="3251835"/>
            <a:chOff x="1840039" y="2435034"/>
            <a:chExt cx="8314055" cy="3251835"/>
          </a:xfrm>
        </p:grpSpPr>
        <p:sp>
          <p:nvSpPr>
            <p:cNvPr id="5" name="object 5"/>
            <p:cNvSpPr/>
            <p:nvPr/>
          </p:nvSpPr>
          <p:spPr>
            <a:xfrm>
              <a:off x="1927224" y="2439797"/>
              <a:ext cx="8140700" cy="3242310"/>
            </a:xfrm>
            <a:custGeom>
              <a:avLst/>
              <a:gdLst/>
              <a:ahLst/>
              <a:cxnLst/>
              <a:rect l="l" t="t" r="r" b="b"/>
              <a:pathLst>
                <a:path w="8140700" h="3242310">
                  <a:moveTo>
                    <a:pt x="0" y="3241700"/>
                  </a:moveTo>
                  <a:lnTo>
                    <a:pt x="8140446" y="3241700"/>
                  </a:lnTo>
                </a:path>
                <a:path w="8140700" h="3242310">
                  <a:moveTo>
                    <a:pt x="0" y="2778379"/>
                  </a:moveTo>
                  <a:lnTo>
                    <a:pt x="8140446" y="2778379"/>
                  </a:lnTo>
                </a:path>
                <a:path w="8140700" h="3242310">
                  <a:moveTo>
                    <a:pt x="0" y="2315083"/>
                  </a:moveTo>
                  <a:lnTo>
                    <a:pt x="8140446" y="2315083"/>
                  </a:lnTo>
                </a:path>
                <a:path w="8140700" h="3242310">
                  <a:moveTo>
                    <a:pt x="0" y="1851786"/>
                  </a:moveTo>
                  <a:lnTo>
                    <a:pt x="8140446" y="1851786"/>
                  </a:lnTo>
                </a:path>
                <a:path w="8140700" h="3242310">
                  <a:moveTo>
                    <a:pt x="0" y="1390014"/>
                  </a:moveTo>
                  <a:lnTo>
                    <a:pt x="8140446" y="1390014"/>
                  </a:lnTo>
                </a:path>
                <a:path w="8140700" h="3242310">
                  <a:moveTo>
                    <a:pt x="0" y="926718"/>
                  </a:moveTo>
                  <a:lnTo>
                    <a:pt x="8140446" y="926718"/>
                  </a:lnTo>
                </a:path>
                <a:path w="8140700" h="3242310">
                  <a:moveTo>
                    <a:pt x="0" y="463423"/>
                  </a:moveTo>
                  <a:lnTo>
                    <a:pt x="8140446" y="463423"/>
                  </a:lnTo>
                </a:path>
                <a:path w="8140700" h="3242310">
                  <a:moveTo>
                    <a:pt x="0" y="0"/>
                  </a:moveTo>
                  <a:lnTo>
                    <a:pt x="8140446" y="0"/>
                  </a:lnTo>
                </a:path>
                <a:path w="8140700" h="3242310">
                  <a:moveTo>
                    <a:pt x="0" y="0"/>
                  </a:moveTo>
                  <a:lnTo>
                    <a:pt x="0" y="3241700"/>
                  </a:lnTo>
                </a:path>
                <a:path w="8140700" h="3242310">
                  <a:moveTo>
                    <a:pt x="814451" y="0"/>
                  </a:moveTo>
                  <a:lnTo>
                    <a:pt x="814451" y="3241700"/>
                  </a:lnTo>
                </a:path>
                <a:path w="8140700" h="3242310">
                  <a:moveTo>
                    <a:pt x="1628266" y="0"/>
                  </a:moveTo>
                  <a:lnTo>
                    <a:pt x="1628266" y="3241700"/>
                  </a:lnTo>
                </a:path>
                <a:path w="8140700" h="3242310">
                  <a:moveTo>
                    <a:pt x="2442083" y="0"/>
                  </a:moveTo>
                  <a:lnTo>
                    <a:pt x="2442083" y="3241700"/>
                  </a:lnTo>
                </a:path>
                <a:path w="8140700" h="3242310">
                  <a:moveTo>
                    <a:pt x="3255899" y="0"/>
                  </a:moveTo>
                  <a:lnTo>
                    <a:pt x="3255899" y="3241700"/>
                  </a:lnTo>
                </a:path>
                <a:path w="8140700" h="3242310">
                  <a:moveTo>
                    <a:pt x="4883531" y="0"/>
                  </a:moveTo>
                  <a:lnTo>
                    <a:pt x="4883531" y="3241700"/>
                  </a:lnTo>
                </a:path>
                <a:path w="8140700" h="3242310">
                  <a:moveTo>
                    <a:pt x="5698871" y="0"/>
                  </a:moveTo>
                  <a:lnTo>
                    <a:pt x="5698871" y="3241700"/>
                  </a:lnTo>
                </a:path>
                <a:path w="8140700" h="3242310">
                  <a:moveTo>
                    <a:pt x="6512686" y="0"/>
                  </a:moveTo>
                  <a:lnTo>
                    <a:pt x="6512686" y="3241700"/>
                  </a:lnTo>
                </a:path>
                <a:path w="8140700" h="3242310">
                  <a:moveTo>
                    <a:pt x="7326503" y="0"/>
                  </a:moveTo>
                  <a:lnTo>
                    <a:pt x="7326503" y="3241700"/>
                  </a:lnTo>
                </a:path>
                <a:path w="8140700" h="3242310">
                  <a:moveTo>
                    <a:pt x="8140446" y="0"/>
                  </a:moveTo>
                  <a:lnTo>
                    <a:pt x="8140446" y="3241700"/>
                  </a:lnTo>
                </a:path>
                <a:path w="8140700" h="3242310">
                  <a:moveTo>
                    <a:pt x="4070223" y="3241700"/>
                  </a:moveTo>
                  <a:lnTo>
                    <a:pt x="4070223" y="0"/>
                  </a:lnTo>
                </a:path>
                <a:path w="8140700" h="3242310">
                  <a:moveTo>
                    <a:pt x="0" y="3010154"/>
                  </a:moveTo>
                  <a:lnTo>
                    <a:pt x="8140446" y="3010154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7224" y="2546350"/>
              <a:ext cx="8140700" cy="2903855"/>
            </a:xfrm>
            <a:custGeom>
              <a:avLst/>
              <a:gdLst/>
              <a:ahLst/>
              <a:cxnLst/>
              <a:rect l="l" t="t" r="r" b="b"/>
              <a:pathLst>
                <a:path w="8140700" h="2903854">
                  <a:moveTo>
                    <a:pt x="8140446" y="2903601"/>
                  </a:moveTo>
                  <a:lnTo>
                    <a:pt x="8134633" y="2851845"/>
                  </a:lnTo>
                  <a:lnTo>
                    <a:pt x="8128820" y="2798912"/>
                  </a:lnTo>
                  <a:lnTo>
                    <a:pt x="8123007" y="2744912"/>
                  </a:lnTo>
                  <a:lnTo>
                    <a:pt x="8117193" y="2689956"/>
                  </a:lnTo>
                  <a:lnTo>
                    <a:pt x="8111380" y="2634154"/>
                  </a:lnTo>
                  <a:lnTo>
                    <a:pt x="8105567" y="2577616"/>
                  </a:lnTo>
                  <a:lnTo>
                    <a:pt x="8099754" y="2520453"/>
                  </a:lnTo>
                  <a:lnTo>
                    <a:pt x="8093940" y="2462774"/>
                  </a:lnTo>
                  <a:lnTo>
                    <a:pt x="8088127" y="2404692"/>
                  </a:lnTo>
                  <a:lnTo>
                    <a:pt x="8082313" y="2346315"/>
                  </a:lnTo>
                  <a:lnTo>
                    <a:pt x="8076499" y="2287754"/>
                  </a:lnTo>
                  <a:lnTo>
                    <a:pt x="8070685" y="2229120"/>
                  </a:lnTo>
                  <a:lnTo>
                    <a:pt x="8064870" y="2170523"/>
                  </a:lnTo>
                  <a:lnTo>
                    <a:pt x="8059056" y="2112074"/>
                  </a:lnTo>
                  <a:lnTo>
                    <a:pt x="8053241" y="2053882"/>
                  </a:lnTo>
                  <a:lnTo>
                    <a:pt x="8047426" y="1996058"/>
                  </a:lnTo>
                  <a:lnTo>
                    <a:pt x="8041610" y="1938713"/>
                  </a:lnTo>
                  <a:lnTo>
                    <a:pt x="8035795" y="1881957"/>
                  </a:lnTo>
                  <a:lnTo>
                    <a:pt x="8029979" y="1825900"/>
                  </a:lnTo>
                  <a:lnTo>
                    <a:pt x="8024162" y="1770652"/>
                  </a:lnTo>
                  <a:lnTo>
                    <a:pt x="8018346" y="1716325"/>
                  </a:lnTo>
                  <a:lnTo>
                    <a:pt x="8012529" y="1663029"/>
                  </a:lnTo>
                  <a:lnTo>
                    <a:pt x="8006711" y="1610873"/>
                  </a:lnTo>
                  <a:lnTo>
                    <a:pt x="8000893" y="1559968"/>
                  </a:lnTo>
                  <a:lnTo>
                    <a:pt x="7995075" y="1510425"/>
                  </a:lnTo>
                  <a:lnTo>
                    <a:pt x="7989256" y="1462354"/>
                  </a:lnTo>
                  <a:lnTo>
                    <a:pt x="7983437" y="1415866"/>
                  </a:lnTo>
                  <a:lnTo>
                    <a:pt x="7977617" y="1371070"/>
                  </a:lnTo>
                  <a:lnTo>
                    <a:pt x="7971797" y="1328078"/>
                  </a:lnTo>
                  <a:lnTo>
                    <a:pt x="7965976" y="1286999"/>
                  </a:lnTo>
                  <a:lnTo>
                    <a:pt x="7960155" y="1247944"/>
                  </a:lnTo>
                  <a:lnTo>
                    <a:pt x="7948511" y="1176347"/>
                  </a:lnTo>
                  <a:lnTo>
                    <a:pt x="7936865" y="1114170"/>
                  </a:lnTo>
                  <a:lnTo>
                    <a:pt x="7917937" y="1058388"/>
                  </a:lnTo>
                  <a:lnTo>
                    <a:pt x="7888887" y="1013518"/>
                  </a:lnTo>
                  <a:lnTo>
                    <a:pt x="7853762" y="978110"/>
                  </a:lnTo>
                  <a:lnTo>
                    <a:pt x="7816606" y="950713"/>
                  </a:lnTo>
                  <a:lnTo>
                    <a:pt x="7781465" y="929876"/>
                  </a:lnTo>
                  <a:lnTo>
                    <a:pt x="7752385" y="914149"/>
                  </a:lnTo>
                  <a:lnTo>
                    <a:pt x="7733410" y="902080"/>
                  </a:lnTo>
                  <a:lnTo>
                    <a:pt x="7692720" y="869541"/>
                  </a:lnTo>
                  <a:lnTo>
                    <a:pt x="7652029" y="840738"/>
                  </a:lnTo>
                  <a:lnTo>
                    <a:pt x="7611338" y="814655"/>
                  </a:lnTo>
                  <a:lnTo>
                    <a:pt x="7570647" y="790272"/>
                  </a:lnTo>
                  <a:lnTo>
                    <a:pt x="7529957" y="766572"/>
                  </a:lnTo>
                  <a:lnTo>
                    <a:pt x="7479020" y="738264"/>
                  </a:lnTo>
                  <a:lnTo>
                    <a:pt x="7428118" y="712327"/>
                  </a:lnTo>
                  <a:lnTo>
                    <a:pt x="7377241" y="688080"/>
                  </a:lnTo>
                  <a:lnTo>
                    <a:pt x="7326376" y="664845"/>
                  </a:lnTo>
                  <a:lnTo>
                    <a:pt x="7275512" y="642647"/>
                  </a:lnTo>
                  <a:lnTo>
                    <a:pt x="7224649" y="621760"/>
                  </a:lnTo>
                  <a:lnTo>
                    <a:pt x="7173785" y="601872"/>
                  </a:lnTo>
                  <a:lnTo>
                    <a:pt x="7122922" y="582676"/>
                  </a:lnTo>
                  <a:lnTo>
                    <a:pt x="7072038" y="564215"/>
                  </a:lnTo>
                  <a:lnTo>
                    <a:pt x="7021131" y="546623"/>
                  </a:lnTo>
                  <a:lnTo>
                    <a:pt x="6970224" y="529722"/>
                  </a:lnTo>
                  <a:lnTo>
                    <a:pt x="6919341" y="513334"/>
                  </a:lnTo>
                  <a:lnTo>
                    <a:pt x="6868477" y="497407"/>
                  </a:lnTo>
                  <a:lnTo>
                    <a:pt x="6817614" y="482123"/>
                  </a:lnTo>
                  <a:lnTo>
                    <a:pt x="6766750" y="467363"/>
                  </a:lnTo>
                  <a:lnTo>
                    <a:pt x="6715886" y="453009"/>
                  </a:lnTo>
                  <a:lnTo>
                    <a:pt x="6665003" y="439046"/>
                  </a:lnTo>
                  <a:lnTo>
                    <a:pt x="6614096" y="425513"/>
                  </a:lnTo>
                  <a:lnTo>
                    <a:pt x="6563189" y="412361"/>
                  </a:lnTo>
                  <a:lnTo>
                    <a:pt x="6512306" y="399541"/>
                  </a:lnTo>
                  <a:lnTo>
                    <a:pt x="6461442" y="387056"/>
                  </a:lnTo>
                  <a:lnTo>
                    <a:pt x="6410579" y="374904"/>
                  </a:lnTo>
                  <a:lnTo>
                    <a:pt x="6359715" y="363037"/>
                  </a:lnTo>
                  <a:lnTo>
                    <a:pt x="6308852" y="351409"/>
                  </a:lnTo>
                  <a:lnTo>
                    <a:pt x="6257986" y="340115"/>
                  </a:lnTo>
                  <a:lnTo>
                    <a:pt x="6207109" y="329072"/>
                  </a:lnTo>
                  <a:lnTo>
                    <a:pt x="6156207" y="318244"/>
                  </a:lnTo>
                  <a:lnTo>
                    <a:pt x="6105271" y="307594"/>
                  </a:lnTo>
                  <a:lnTo>
                    <a:pt x="6054407" y="297231"/>
                  </a:lnTo>
                  <a:lnTo>
                    <a:pt x="6003544" y="287083"/>
                  </a:lnTo>
                  <a:lnTo>
                    <a:pt x="5952680" y="277125"/>
                  </a:lnTo>
                  <a:lnTo>
                    <a:pt x="5901817" y="267335"/>
                  </a:lnTo>
                  <a:lnTo>
                    <a:pt x="5850953" y="257732"/>
                  </a:lnTo>
                  <a:lnTo>
                    <a:pt x="5800090" y="248332"/>
                  </a:lnTo>
                  <a:lnTo>
                    <a:pt x="5749226" y="239099"/>
                  </a:lnTo>
                  <a:lnTo>
                    <a:pt x="5698363" y="229997"/>
                  </a:lnTo>
                  <a:lnTo>
                    <a:pt x="5647426" y="221041"/>
                  </a:lnTo>
                  <a:lnTo>
                    <a:pt x="5596524" y="212264"/>
                  </a:lnTo>
                  <a:lnTo>
                    <a:pt x="5545647" y="203654"/>
                  </a:lnTo>
                  <a:lnTo>
                    <a:pt x="5494782" y="195199"/>
                  </a:lnTo>
                  <a:lnTo>
                    <a:pt x="5443918" y="186813"/>
                  </a:lnTo>
                  <a:lnTo>
                    <a:pt x="5393055" y="178593"/>
                  </a:lnTo>
                  <a:lnTo>
                    <a:pt x="5342191" y="170517"/>
                  </a:lnTo>
                  <a:lnTo>
                    <a:pt x="5291328" y="162560"/>
                  </a:lnTo>
                  <a:lnTo>
                    <a:pt x="5240444" y="154721"/>
                  </a:lnTo>
                  <a:lnTo>
                    <a:pt x="5189537" y="147002"/>
                  </a:lnTo>
                  <a:lnTo>
                    <a:pt x="5138630" y="139378"/>
                  </a:lnTo>
                  <a:lnTo>
                    <a:pt x="5087747" y="131825"/>
                  </a:lnTo>
                  <a:lnTo>
                    <a:pt x="5036883" y="124442"/>
                  </a:lnTo>
                  <a:lnTo>
                    <a:pt x="4986020" y="117141"/>
                  </a:lnTo>
                  <a:lnTo>
                    <a:pt x="4935156" y="109912"/>
                  </a:lnTo>
                  <a:lnTo>
                    <a:pt x="4884293" y="102742"/>
                  </a:lnTo>
                  <a:lnTo>
                    <a:pt x="4833409" y="95740"/>
                  </a:lnTo>
                  <a:lnTo>
                    <a:pt x="4782502" y="88820"/>
                  </a:lnTo>
                  <a:lnTo>
                    <a:pt x="4731595" y="81972"/>
                  </a:lnTo>
                  <a:lnTo>
                    <a:pt x="4680711" y="75184"/>
                  </a:lnTo>
                  <a:lnTo>
                    <a:pt x="4629848" y="68542"/>
                  </a:lnTo>
                  <a:lnTo>
                    <a:pt x="4578984" y="61960"/>
                  </a:lnTo>
                  <a:lnTo>
                    <a:pt x="4528121" y="55449"/>
                  </a:lnTo>
                  <a:lnTo>
                    <a:pt x="4477258" y="49022"/>
                  </a:lnTo>
                  <a:lnTo>
                    <a:pt x="4426392" y="42610"/>
                  </a:lnTo>
                  <a:lnTo>
                    <a:pt x="4375515" y="36306"/>
                  </a:lnTo>
                  <a:lnTo>
                    <a:pt x="4324613" y="30073"/>
                  </a:lnTo>
                  <a:lnTo>
                    <a:pt x="4273677" y="23875"/>
                  </a:lnTo>
                  <a:lnTo>
                    <a:pt x="4222813" y="16716"/>
                  </a:lnTo>
                  <a:lnTo>
                    <a:pt x="4171950" y="8890"/>
                  </a:lnTo>
                  <a:lnTo>
                    <a:pt x="4121086" y="2587"/>
                  </a:lnTo>
                  <a:lnTo>
                    <a:pt x="4070223" y="0"/>
                  </a:lnTo>
                  <a:lnTo>
                    <a:pt x="4019359" y="2587"/>
                  </a:lnTo>
                  <a:lnTo>
                    <a:pt x="3968496" y="8889"/>
                  </a:lnTo>
                  <a:lnTo>
                    <a:pt x="3917632" y="16716"/>
                  </a:lnTo>
                  <a:lnTo>
                    <a:pt x="3866769" y="23875"/>
                  </a:lnTo>
                  <a:lnTo>
                    <a:pt x="3815832" y="30073"/>
                  </a:lnTo>
                  <a:lnTo>
                    <a:pt x="3764930" y="36306"/>
                  </a:lnTo>
                  <a:lnTo>
                    <a:pt x="3714053" y="42610"/>
                  </a:lnTo>
                  <a:lnTo>
                    <a:pt x="3663188" y="49022"/>
                  </a:lnTo>
                  <a:lnTo>
                    <a:pt x="3612324" y="55449"/>
                  </a:lnTo>
                  <a:lnTo>
                    <a:pt x="3561461" y="61960"/>
                  </a:lnTo>
                  <a:lnTo>
                    <a:pt x="3510597" y="68542"/>
                  </a:lnTo>
                  <a:lnTo>
                    <a:pt x="3459734" y="75184"/>
                  </a:lnTo>
                  <a:lnTo>
                    <a:pt x="3408850" y="81972"/>
                  </a:lnTo>
                  <a:lnTo>
                    <a:pt x="3357943" y="88820"/>
                  </a:lnTo>
                  <a:lnTo>
                    <a:pt x="3307036" y="95740"/>
                  </a:lnTo>
                  <a:lnTo>
                    <a:pt x="3256153" y="102742"/>
                  </a:lnTo>
                  <a:lnTo>
                    <a:pt x="3205289" y="109912"/>
                  </a:lnTo>
                  <a:lnTo>
                    <a:pt x="3154426" y="117141"/>
                  </a:lnTo>
                  <a:lnTo>
                    <a:pt x="3103562" y="124442"/>
                  </a:lnTo>
                  <a:lnTo>
                    <a:pt x="3052699" y="131825"/>
                  </a:lnTo>
                  <a:lnTo>
                    <a:pt x="3001815" y="139378"/>
                  </a:lnTo>
                  <a:lnTo>
                    <a:pt x="2950908" y="147002"/>
                  </a:lnTo>
                  <a:lnTo>
                    <a:pt x="2900001" y="154721"/>
                  </a:lnTo>
                  <a:lnTo>
                    <a:pt x="2849117" y="162560"/>
                  </a:lnTo>
                  <a:lnTo>
                    <a:pt x="2798254" y="170517"/>
                  </a:lnTo>
                  <a:lnTo>
                    <a:pt x="2747391" y="178593"/>
                  </a:lnTo>
                  <a:lnTo>
                    <a:pt x="2696527" y="186813"/>
                  </a:lnTo>
                  <a:lnTo>
                    <a:pt x="2645664" y="195199"/>
                  </a:lnTo>
                  <a:lnTo>
                    <a:pt x="2594798" y="203654"/>
                  </a:lnTo>
                  <a:lnTo>
                    <a:pt x="2543921" y="212264"/>
                  </a:lnTo>
                  <a:lnTo>
                    <a:pt x="2493019" y="221041"/>
                  </a:lnTo>
                  <a:lnTo>
                    <a:pt x="2442083" y="229997"/>
                  </a:lnTo>
                  <a:lnTo>
                    <a:pt x="2391219" y="239099"/>
                  </a:lnTo>
                  <a:lnTo>
                    <a:pt x="2340356" y="248332"/>
                  </a:lnTo>
                  <a:lnTo>
                    <a:pt x="2289492" y="257732"/>
                  </a:lnTo>
                  <a:lnTo>
                    <a:pt x="2238629" y="267335"/>
                  </a:lnTo>
                  <a:lnTo>
                    <a:pt x="2187765" y="277125"/>
                  </a:lnTo>
                  <a:lnTo>
                    <a:pt x="2136902" y="287083"/>
                  </a:lnTo>
                  <a:lnTo>
                    <a:pt x="2086038" y="297231"/>
                  </a:lnTo>
                  <a:lnTo>
                    <a:pt x="2035175" y="307594"/>
                  </a:lnTo>
                  <a:lnTo>
                    <a:pt x="1984238" y="318244"/>
                  </a:lnTo>
                  <a:lnTo>
                    <a:pt x="1933336" y="329072"/>
                  </a:lnTo>
                  <a:lnTo>
                    <a:pt x="1882459" y="340115"/>
                  </a:lnTo>
                  <a:lnTo>
                    <a:pt x="1831594" y="351409"/>
                  </a:lnTo>
                  <a:lnTo>
                    <a:pt x="1780730" y="363037"/>
                  </a:lnTo>
                  <a:lnTo>
                    <a:pt x="1729867" y="374903"/>
                  </a:lnTo>
                  <a:lnTo>
                    <a:pt x="1679003" y="387056"/>
                  </a:lnTo>
                  <a:lnTo>
                    <a:pt x="1628139" y="399541"/>
                  </a:lnTo>
                  <a:lnTo>
                    <a:pt x="1577256" y="412361"/>
                  </a:lnTo>
                  <a:lnTo>
                    <a:pt x="1526349" y="425513"/>
                  </a:lnTo>
                  <a:lnTo>
                    <a:pt x="1475442" y="439046"/>
                  </a:lnTo>
                  <a:lnTo>
                    <a:pt x="1424559" y="453009"/>
                  </a:lnTo>
                  <a:lnTo>
                    <a:pt x="1373695" y="467363"/>
                  </a:lnTo>
                  <a:lnTo>
                    <a:pt x="1322832" y="482123"/>
                  </a:lnTo>
                  <a:lnTo>
                    <a:pt x="1271968" y="497407"/>
                  </a:lnTo>
                  <a:lnTo>
                    <a:pt x="1221105" y="513334"/>
                  </a:lnTo>
                  <a:lnTo>
                    <a:pt x="1170221" y="529722"/>
                  </a:lnTo>
                  <a:lnTo>
                    <a:pt x="1119314" y="546623"/>
                  </a:lnTo>
                  <a:lnTo>
                    <a:pt x="1068407" y="564215"/>
                  </a:lnTo>
                  <a:lnTo>
                    <a:pt x="1017524" y="582676"/>
                  </a:lnTo>
                  <a:lnTo>
                    <a:pt x="966660" y="601872"/>
                  </a:lnTo>
                  <a:lnTo>
                    <a:pt x="915797" y="621760"/>
                  </a:lnTo>
                  <a:lnTo>
                    <a:pt x="864933" y="642647"/>
                  </a:lnTo>
                  <a:lnTo>
                    <a:pt x="814069" y="664845"/>
                  </a:lnTo>
                  <a:lnTo>
                    <a:pt x="763204" y="688080"/>
                  </a:lnTo>
                  <a:lnTo>
                    <a:pt x="712327" y="712327"/>
                  </a:lnTo>
                  <a:lnTo>
                    <a:pt x="661425" y="738264"/>
                  </a:lnTo>
                  <a:lnTo>
                    <a:pt x="610488" y="766572"/>
                  </a:lnTo>
                  <a:lnTo>
                    <a:pt x="569798" y="790272"/>
                  </a:lnTo>
                  <a:lnTo>
                    <a:pt x="529107" y="814655"/>
                  </a:lnTo>
                  <a:lnTo>
                    <a:pt x="488416" y="840738"/>
                  </a:lnTo>
                  <a:lnTo>
                    <a:pt x="447725" y="869541"/>
                  </a:lnTo>
                  <a:lnTo>
                    <a:pt x="407035" y="902080"/>
                  </a:lnTo>
                  <a:lnTo>
                    <a:pt x="388060" y="914149"/>
                  </a:lnTo>
                  <a:lnTo>
                    <a:pt x="323839" y="950713"/>
                  </a:lnTo>
                  <a:lnTo>
                    <a:pt x="286683" y="978110"/>
                  </a:lnTo>
                  <a:lnTo>
                    <a:pt x="251558" y="1013518"/>
                  </a:lnTo>
                  <a:lnTo>
                    <a:pt x="222508" y="1058388"/>
                  </a:lnTo>
                  <a:lnTo>
                    <a:pt x="203581" y="1114170"/>
                  </a:lnTo>
                  <a:lnTo>
                    <a:pt x="191934" y="1176347"/>
                  </a:lnTo>
                  <a:lnTo>
                    <a:pt x="180290" y="1247944"/>
                  </a:lnTo>
                  <a:lnTo>
                    <a:pt x="174469" y="1286999"/>
                  </a:lnTo>
                  <a:lnTo>
                    <a:pt x="168648" y="1328078"/>
                  </a:lnTo>
                  <a:lnTo>
                    <a:pt x="162828" y="1371070"/>
                  </a:lnTo>
                  <a:lnTo>
                    <a:pt x="157008" y="1415866"/>
                  </a:lnTo>
                  <a:lnTo>
                    <a:pt x="151189" y="1462354"/>
                  </a:lnTo>
                  <a:lnTo>
                    <a:pt x="145370" y="1510425"/>
                  </a:lnTo>
                  <a:lnTo>
                    <a:pt x="139552" y="1559968"/>
                  </a:lnTo>
                  <a:lnTo>
                    <a:pt x="133734" y="1610873"/>
                  </a:lnTo>
                  <a:lnTo>
                    <a:pt x="127916" y="1663029"/>
                  </a:lnTo>
                  <a:lnTo>
                    <a:pt x="122099" y="1716325"/>
                  </a:lnTo>
                  <a:lnTo>
                    <a:pt x="116283" y="1770652"/>
                  </a:lnTo>
                  <a:lnTo>
                    <a:pt x="110466" y="1825900"/>
                  </a:lnTo>
                  <a:lnTo>
                    <a:pt x="104650" y="1881957"/>
                  </a:lnTo>
                  <a:lnTo>
                    <a:pt x="98835" y="1938713"/>
                  </a:lnTo>
                  <a:lnTo>
                    <a:pt x="93019" y="1996058"/>
                  </a:lnTo>
                  <a:lnTo>
                    <a:pt x="87204" y="2053882"/>
                  </a:lnTo>
                  <a:lnTo>
                    <a:pt x="81389" y="2112074"/>
                  </a:lnTo>
                  <a:lnTo>
                    <a:pt x="75575" y="2170523"/>
                  </a:lnTo>
                  <a:lnTo>
                    <a:pt x="69760" y="2229120"/>
                  </a:lnTo>
                  <a:lnTo>
                    <a:pt x="63946" y="2287754"/>
                  </a:lnTo>
                  <a:lnTo>
                    <a:pt x="58132" y="2346315"/>
                  </a:lnTo>
                  <a:lnTo>
                    <a:pt x="52318" y="2404692"/>
                  </a:lnTo>
                  <a:lnTo>
                    <a:pt x="46505" y="2462774"/>
                  </a:lnTo>
                  <a:lnTo>
                    <a:pt x="40691" y="2520453"/>
                  </a:lnTo>
                  <a:lnTo>
                    <a:pt x="34878" y="2577616"/>
                  </a:lnTo>
                  <a:lnTo>
                    <a:pt x="29065" y="2634154"/>
                  </a:lnTo>
                  <a:lnTo>
                    <a:pt x="23252" y="2689956"/>
                  </a:lnTo>
                  <a:lnTo>
                    <a:pt x="17438" y="2744912"/>
                  </a:lnTo>
                  <a:lnTo>
                    <a:pt x="11625" y="2798912"/>
                  </a:lnTo>
                  <a:lnTo>
                    <a:pt x="5812" y="2851845"/>
                  </a:lnTo>
                  <a:lnTo>
                    <a:pt x="0" y="2903601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79723" y="5362892"/>
              <a:ext cx="174117" cy="1741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7031" y="3573716"/>
              <a:ext cx="174116" cy="1741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2815" y="3361880"/>
              <a:ext cx="174117" cy="1741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68599" y="3226244"/>
              <a:ext cx="174117" cy="1741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5907" y="3124136"/>
              <a:ext cx="174116" cy="1741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61691" y="3041840"/>
              <a:ext cx="174117" cy="1741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8999" y="2973260"/>
              <a:ext cx="174117" cy="1741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4783" y="2912300"/>
              <a:ext cx="174117" cy="1741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2091" y="2858960"/>
              <a:ext cx="174117" cy="1741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7875" y="2810192"/>
              <a:ext cx="174116" cy="1741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5183" y="2767520"/>
              <a:ext cx="174117" cy="17411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0967" y="2726372"/>
              <a:ext cx="174117" cy="1741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38275" y="2689796"/>
              <a:ext cx="174116" cy="1741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059" y="2654744"/>
              <a:ext cx="174117" cy="1741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1367" y="2622740"/>
              <a:ext cx="174117" cy="17411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7151" y="2590736"/>
              <a:ext cx="174116" cy="1741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2935" y="2561780"/>
              <a:ext cx="174117" cy="1741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0243" y="2534348"/>
              <a:ext cx="174117" cy="17411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6027" y="2508440"/>
              <a:ext cx="174117" cy="1741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13335" y="2484056"/>
              <a:ext cx="174116" cy="1741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09119" y="2459672"/>
              <a:ext cx="174116" cy="1741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6427" y="2484056"/>
              <a:ext cx="174117" cy="17411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2211" y="2508440"/>
              <a:ext cx="174116" cy="17411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9519" y="2534348"/>
              <a:ext cx="174116" cy="17411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5303" y="2561780"/>
              <a:ext cx="174117" cy="17411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2611" y="2590736"/>
              <a:ext cx="174116" cy="1741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8395" y="2622740"/>
              <a:ext cx="174116" cy="17411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5703" y="2654744"/>
              <a:ext cx="174117" cy="1741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1487" y="2689796"/>
              <a:ext cx="174116" cy="1741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8795" y="2726372"/>
              <a:ext cx="174116" cy="1741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4579" y="2767520"/>
              <a:ext cx="174117" cy="1741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0363" y="2810192"/>
              <a:ext cx="174116" cy="17411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7671" y="2858960"/>
              <a:ext cx="174116" cy="1741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3455" y="2912300"/>
              <a:ext cx="174117" cy="1741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60763" y="2973260"/>
              <a:ext cx="174117" cy="17411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6547" y="3041840"/>
              <a:ext cx="174116" cy="17411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3855" y="3124136"/>
              <a:ext cx="174117" cy="17411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9639" y="3226244"/>
              <a:ext cx="174117" cy="17411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6947" y="3361880"/>
              <a:ext cx="174116" cy="17411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2731" y="3573716"/>
              <a:ext cx="174117" cy="17411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0039" y="5362892"/>
              <a:ext cx="174117" cy="17411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927224" y="2564193"/>
              <a:ext cx="8140700" cy="2886075"/>
            </a:xfrm>
            <a:custGeom>
              <a:avLst/>
              <a:gdLst/>
              <a:ahLst/>
              <a:cxnLst/>
              <a:rect l="l" t="t" r="r" b="b"/>
              <a:pathLst>
                <a:path w="8140700" h="2886075">
                  <a:moveTo>
                    <a:pt x="0" y="2885757"/>
                  </a:moveTo>
                  <a:lnTo>
                    <a:pt x="5932" y="2835191"/>
                  </a:lnTo>
                  <a:lnTo>
                    <a:pt x="11865" y="2783537"/>
                  </a:lnTo>
                  <a:lnTo>
                    <a:pt x="17798" y="2730927"/>
                  </a:lnTo>
                  <a:lnTo>
                    <a:pt x="23730" y="2677490"/>
                  </a:lnTo>
                  <a:lnTo>
                    <a:pt x="29663" y="2623358"/>
                  </a:lnTo>
                  <a:lnTo>
                    <a:pt x="35596" y="2568660"/>
                  </a:lnTo>
                  <a:lnTo>
                    <a:pt x="41528" y="2513528"/>
                  </a:lnTo>
                  <a:lnTo>
                    <a:pt x="47461" y="2458091"/>
                  </a:lnTo>
                  <a:lnTo>
                    <a:pt x="53394" y="2402481"/>
                  </a:lnTo>
                  <a:lnTo>
                    <a:pt x="59327" y="2346828"/>
                  </a:lnTo>
                  <a:lnTo>
                    <a:pt x="65259" y="2291261"/>
                  </a:lnTo>
                  <a:lnTo>
                    <a:pt x="71192" y="2235913"/>
                  </a:lnTo>
                  <a:lnTo>
                    <a:pt x="77125" y="2180913"/>
                  </a:lnTo>
                  <a:lnTo>
                    <a:pt x="83057" y="2126392"/>
                  </a:lnTo>
                  <a:lnTo>
                    <a:pt x="88990" y="2072481"/>
                  </a:lnTo>
                  <a:lnTo>
                    <a:pt x="94923" y="2019309"/>
                  </a:lnTo>
                  <a:lnTo>
                    <a:pt x="100856" y="1967008"/>
                  </a:lnTo>
                  <a:lnTo>
                    <a:pt x="106788" y="1915707"/>
                  </a:lnTo>
                  <a:lnTo>
                    <a:pt x="112721" y="1865539"/>
                  </a:lnTo>
                  <a:lnTo>
                    <a:pt x="118654" y="1816632"/>
                  </a:lnTo>
                  <a:lnTo>
                    <a:pt x="124586" y="1769117"/>
                  </a:lnTo>
                  <a:lnTo>
                    <a:pt x="130519" y="1723126"/>
                  </a:lnTo>
                  <a:lnTo>
                    <a:pt x="136452" y="1678788"/>
                  </a:lnTo>
                  <a:lnTo>
                    <a:pt x="142385" y="1636235"/>
                  </a:lnTo>
                  <a:lnTo>
                    <a:pt x="148317" y="1595596"/>
                  </a:lnTo>
                  <a:lnTo>
                    <a:pt x="154250" y="1557002"/>
                  </a:lnTo>
                  <a:lnTo>
                    <a:pt x="166116" y="1486471"/>
                  </a:lnTo>
                  <a:lnTo>
                    <a:pt x="181500" y="1412534"/>
                  </a:lnTo>
                  <a:lnTo>
                    <a:pt x="199189" y="1345985"/>
                  </a:lnTo>
                  <a:lnTo>
                    <a:pt x="218524" y="1286291"/>
                  </a:lnTo>
                  <a:lnTo>
                    <a:pt x="238847" y="1232918"/>
                  </a:lnTo>
                  <a:lnTo>
                    <a:pt x="259500" y="1185335"/>
                  </a:lnTo>
                  <a:lnTo>
                    <a:pt x="279823" y="1143007"/>
                  </a:lnTo>
                  <a:lnTo>
                    <a:pt x="299158" y="1105401"/>
                  </a:lnTo>
                  <a:lnTo>
                    <a:pt x="316847" y="1071985"/>
                  </a:lnTo>
                  <a:lnTo>
                    <a:pt x="332231" y="1042225"/>
                  </a:lnTo>
                  <a:lnTo>
                    <a:pt x="359918" y="991491"/>
                  </a:lnTo>
                  <a:lnTo>
                    <a:pt x="387604" y="948946"/>
                  </a:lnTo>
                  <a:lnTo>
                    <a:pt x="415290" y="912574"/>
                  </a:lnTo>
                  <a:lnTo>
                    <a:pt x="442976" y="880361"/>
                  </a:lnTo>
                  <a:lnTo>
                    <a:pt x="470662" y="850293"/>
                  </a:lnTo>
                  <a:lnTo>
                    <a:pt x="498348" y="820356"/>
                  </a:lnTo>
                  <a:lnTo>
                    <a:pt x="539950" y="777970"/>
                  </a:lnTo>
                  <a:lnTo>
                    <a:pt x="581517" y="741108"/>
                  </a:lnTo>
                  <a:lnTo>
                    <a:pt x="623060" y="707771"/>
                  </a:lnTo>
                  <a:lnTo>
                    <a:pt x="664591" y="675957"/>
                  </a:lnTo>
                  <a:lnTo>
                    <a:pt x="706119" y="645600"/>
                  </a:lnTo>
                  <a:lnTo>
                    <a:pt x="747649" y="617601"/>
                  </a:lnTo>
                  <a:lnTo>
                    <a:pt x="789178" y="591411"/>
                  </a:lnTo>
                  <a:lnTo>
                    <a:pt x="830707" y="566483"/>
                  </a:lnTo>
                  <a:lnTo>
                    <a:pt x="872236" y="543012"/>
                  </a:lnTo>
                  <a:lnTo>
                    <a:pt x="913765" y="521112"/>
                  </a:lnTo>
                  <a:lnTo>
                    <a:pt x="955294" y="500403"/>
                  </a:lnTo>
                  <a:lnTo>
                    <a:pt x="996823" y="480504"/>
                  </a:lnTo>
                  <a:lnTo>
                    <a:pt x="1038351" y="461448"/>
                  </a:lnTo>
                  <a:lnTo>
                    <a:pt x="1079881" y="443404"/>
                  </a:lnTo>
                  <a:lnTo>
                    <a:pt x="1121410" y="426194"/>
                  </a:lnTo>
                  <a:lnTo>
                    <a:pt x="1162939" y="409638"/>
                  </a:lnTo>
                  <a:lnTo>
                    <a:pt x="1204468" y="393646"/>
                  </a:lnTo>
                  <a:lnTo>
                    <a:pt x="1245996" y="378380"/>
                  </a:lnTo>
                  <a:lnTo>
                    <a:pt x="1287525" y="363757"/>
                  </a:lnTo>
                  <a:lnTo>
                    <a:pt x="1329054" y="349694"/>
                  </a:lnTo>
                  <a:lnTo>
                    <a:pt x="1370583" y="336240"/>
                  </a:lnTo>
                  <a:lnTo>
                    <a:pt x="1412112" y="323405"/>
                  </a:lnTo>
                  <a:lnTo>
                    <a:pt x="1453641" y="311046"/>
                  </a:lnTo>
                  <a:lnTo>
                    <a:pt x="1495171" y="299021"/>
                  </a:lnTo>
                  <a:lnTo>
                    <a:pt x="1536700" y="287339"/>
                  </a:lnTo>
                  <a:lnTo>
                    <a:pt x="1578228" y="276050"/>
                  </a:lnTo>
                  <a:lnTo>
                    <a:pt x="1619757" y="265070"/>
                  </a:lnTo>
                  <a:lnTo>
                    <a:pt x="1661287" y="254317"/>
                  </a:lnTo>
                  <a:lnTo>
                    <a:pt x="1702815" y="243699"/>
                  </a:lnTo>
                  <a:lnTo>
                    <a:pt x="1744344" y="233283"/>
                  </a:lnTo>
                  <a:lnTo>
                    <a:pt x="1785873" y="223224"/>
                  </a:lnTo>
                  <a:lnTo>
                    <a:pt x="1827402" y="213677"/>
                  </a:lnTo>
                  <a:lnTo>
                    <a:pt x="1868951" y="204779"/>
                  </a:lnTo>
                  <a:lnTo>
                    <a:pt x="1910524" y="196405"/>
                  </a:lnTo>
                  <a:lnTo>
                    <a:pt x="1952097" y="188317"/>
                  </a:lnTo>
                  <a:lnTo>
                    <a:pt x="1993646" y="180276"/>
                  </a:lnTo>
                  <a:lnTo>
                    <a:pt x="2035175" y="172200"/>
                  </a:lnTo>
                  <a:lnTo>
                    <a:pt x="2076703" y="164242"/>
                  </a:lnTo>
                  <a:lnTo>
                    <a:pt x="2118232" y="156523"/>
                  </a:lnTo>
                  <a:lnTo>
                    <a:pt x="2159762" y="149161"/>
                  </a:lnTo>
                  <a:lnTo>
                    <a:pt x="2201291" y="142253"/>
                  </a:lnTo>
                  <a:lnTo>
                    <a:pt x="2242819" y="135715"/>
                  </a:lnTo>
                  <a:lnTo>
                    <a:pt x="2284348" y="129391"/>
                  </a:lnTo>
                  <a:lnTo>
                    <a:pt x="2325878" y="123126"/>
                  </a:lnTo>
                  <a:lnTo>
                    <a:pt x="2367406" y="116834"/>
                  </a:lnTo>
                  <a:lnTo>
                    <a:pt x="2408935" y="110601"/>
                  </a:lnTo>
                  <a:lnTo>
                    <a:pt x="2450464" y="104534"/>
                  </a:lnTo>
                  <a:lnTo>
                    <a:pt x="2491994" y="98742"/>
                  </a:lnTo>
                  <a:lnTo>
                    <a:pt x="2533523" y="93259"/>
                  </a:lnTo>
                  <a:lnTo>
                    <a:pt x="2575052" y="88026"/>
                  </a:lnTo>
                  <a:lnTo>
                    <a:pt x="2616580" y="83008"/>
                  </a:lnTo>
                  <a:lnTo>
                    <a:pt x="2658110" y="78168"/>
                  </a:lnTo>
                  <a:lnTo>
                    <a:pt x="2699639" y="73443"/>
                  </a:lnTo>
                  <a:lnTo>
                    <a:pt x="2741167" y="68945"/>
                  </a:lnTo>
                  <a:lnTo>
                    <a:pt x="2782696" y="64613"/>
                  </a:lnTo>
                  <a:lnTo>
                    <a:pt x="2824226" y="60388"/>
                  </a:lnTo>
                  <a:lnTo>
                    <a:pt x="2865754" y="56116"/>
                  </a:lnTo>
                  <a:lnTo>
                    <a:pt x="2907283" y="51927"/>
                  </a:lnTo>
                  <a:lnTo>
                    <a:pt x="2948812" y="47904"/>
                  </a:lnTo>
                  <a:lnTo>
                    <a:pt x="2990341" y="44132"/>
                  </a:lnTo>
                  <a:lnTo>
                    <a:pt x="3031871" y="40778"/>
                  </a:lnTo>
                  <a:lnTo>
                    <a:pt x="3073400" y="37687"/>
                  </a:lnTo>
                  <a:lnTo>
                    <a:pt x="3114929" y="34738"/>
                  </a:lnTo>
                  <a:lnTo>
                    <a:pt x="3156458" y="31813"/>
                  </a:lnTo>
                  <a:lnTo>
                    <a:pt x="3197987" y="28983"/>
                  </a:lnTo>
                  <a:lnTo>
                    <a:pt x="3239516" y="26225"/>
                  </a:lnTo>
                  <a:lnTo>
                    <a:pt x="3281044" y="23562"/>
                  </a:lnTo>
                  <a:lnTo>
                    <a:pt x="3322574" y="21018"/>
                  </a:lnTo>
                  <a:lnTo>
                    <a:pt x="3364176" y="18669"/>
                  </a:lnTo>
                  <a:lnTo>
                    <a:pt x="3405743" y="16414"/>
                  </a:lnTo>
                  <a:lnTo>
                    <a:pt x="3447286" y="14303"/>
                  </a:lnTo>
                  <a:lnTo>
                    <a:pt x="3488816" y="12382"/>
                  </a:lnTo>
                  <a:lnTo>
                    <a:pt x="3530346" y="10701"/>
                  </a:lnTo>
                  <a:lnTo>
                    <a:pt x="3571875" y="9223"/>
                  </a:lnTo>
                  <a:lnTo>
                    <a:pt x="3613404" y="7864"/>
                  </a:lnTo>
                  <a:lnTo>
                    <a:pt x="3654933" y="6540"/>
                  </a:lnTo>
                  <a:lnTo>
                    <a:pt x="3696462" y="5216"/>
                  </a:lnTo>
                  <a:lnTo>
                    <a:pt x="3737991" y="3952"/>
                  </a:lnTo>
                  <a:lnTo>
                    <a:pt x="3779519" y="2807"/>
                  </a:lnTo>
                  <a:lnTo>
                    <a:pt x="3821049" y="1841"/>
                  </a:lnTo>
                  <a:lnTo>
                    <a:pt x="3862578" y="1190"/>
                  </a:lnTo>
                  <a:lnTo>
                    <a:pt x="3904106" y="730"/>
                  </a:lnTo>
                  <a:lnTo>
                    <a:pt x="3945635" y="412"/>
                  </a:lnTo>
                  <a:lnTo>
                    <a:pt x="3987165" y="190"/>
                  </a:lnTo>
                  <a:lnTo>
                    <a:pt x="4028693" y="47"/>
                  </a:lnTo>
                  <a:lnTo>
                    <a:pt x="4070222" y="0"/>
                  </a:lnTo>
                  <a:lnTo>
                    <a:pt x="4111751" y="47"/>
                  </a:lnTo>
                  <a:lnTo>
                    <a:pt x="4153280" y="190"/>
                  </a:lnTo>
                  <a:lnTo>
                    <a:pt x="4194809" y="412"/>
                  </a:lnTo>
                  <a:lnTo>
                    <a:pt x="4236338" y="730"/>
                  </a:lnTo>
                  <a:lnTo>
                    <a:pt x="4277867" y="1190"/>
                  </a:lnTo>
                  <a:lnTo>
                    <a:pt x="4319397" y="1841"/>
                  </a:lnTo>
                  <a:lnTo>
                    <a:pt x="4360926" y="2807"/>
                  </a:lnTo>
                  <a:lnTo>
                    <a:pt x="4402455" y="3952"/>
                  </a:lnTo>
                  <a:lnTo>
                    <a:pt x="4443983" y="5216"/>
                  </a:lnTo>
                  <a:lnTo>
                    <a:pt x="4485513" y="6540"/>
                  </a:lnTo>
                  <a:lnTo>
                    <a:pt x="4527042" y="7864"/>
                  </a:lnTo>
                  <a:lnTo>
                    <a:pt x="4568570" y="9223"/>
                  </a:lnTo>
                  <a:lnTo>
                    <a:pt x="4610099" y="10701"/>
                  </a:lnTo>
                  <a:lnTo>
                    <a:pt x="4651629" y="12382"/>
                  </a:lnTo>
                  <a:lnTo>
                    <a:pt x="4693177" y="14303"/>
                  </a:lnTo>
                  <a:lnTo>
                    <a:pt x="4734750" y="16414"/>
                  </a:lnTo>
                  <a:lnTo>
                    <a:pt x="4776323" y="18669"/>
                  </a:lnTo>
                  <a:lnTo>
                    <a:pt x="4817872" y="21018"/>
                  </a:lnTo>
                  <a:lnTo>
                    <a:pt x="4859401" y="23562"/>
                  </a:lnTo>
                  <a:lnTo>
                    <a:pt x="4900930" y="26225"/>
                  </a:lnTo>
                  <a:lnTo>
                    <a:pt x="4942458" y="28983"/>
                  </a:lnTo>
                  <a:lnTo>
                    <a:pt x="4983988" y="31813"/>
                  </a:lnTo>
                  <a:lnTo>
                    <a:pt x="5025517" y="34738"/>
                  </a:lnTo>
                  <a:lnTo>
                    <a:pt x="5067046" y="37687"/>
                  </a:lnTo>
                  <a:lnTo>
                    <a:pt x="5108575" y="40778"/>
                  </a:lnTo>
                  <a:lnTo>
                    <a:pt x="5150104" y="44132"/>
                  </a:lnTo>
                  <a:lnTo>
                    <a:pt x="5191633" y="47904"/>
                  </a:lnTo>
                  <a:lnTo>
                    <a:pt x="5233161" y="51927"/>
                  </a:lnTo>
                  <a:lnTo>
                    <a:pt x="5274690" y="56116"/>
                  </a:lnTo>
                  <a:lnTo>
                    <a:pt x="5316220" y="60388"/>
                  </a:lnTo>
                  <a:lnTo>
                    <a:pt x="5357749" y="64613"/>
                  </a:lnTo>
                  <a:lnTo>
                    <a:pt x="5399278" y="68945"/>
                  </a:lnTo>
                  <a:lnTo>
                    <a:pt x="5440807" y="73443"/>
                  </a:lnTo>
                  <a:lnTo>
                    <a:pt x="5482335" y="78168"/>
                  </a:lnTo>
                  <a:lnTo>
                    <a:pt x="5523864" y="83008"/>
                  </a:lnTo>
                  <a:lnTo>
                    <a:pt x="5565393" y="88026"/>
                  </a:lnTo>
                  <a:lnTo>
                    <a:pt x="5606922" y="93259"/>
                  </a:lnTo>
                  <a:lnTo>
                    <a:pt x="5648452" y="98742"/>
                  </a:lnTo>
                  <a:lnTo>
                    <a:pt x="5689981" y="104534"/>
                  </a:lnTo>
                  <a:lnTo>
                    <a:pt x="5731509" y="110601"/>
                  </a:lnTo>
                  <a:lnTo>
                    <a:pt x="5773038" y="116834"/>
                  </a:lnTo>
                  <a:lnTo>
                    <a:pt x="5814568" y="123126"/>
                  </a:lnTo>
                  <a:lnTo>
                    <a:pt x="5856097" y="129391"/>
                  </a:lnTo>
                  <a:lnTo>
                    <a:pt x="5897626" y="135715"/>
                  </a:lnTo>
                  <a:lnTo>
                    <a:pt x="5939155" y="142253"/>
                  </a:lnTo>
                  <a:lnTo>
                    <a:pt x="5980683" y="149161"/>
                  </a:lnTo>
                  <a:lnTo>
                    <a:pt x="6022212" y="156523"/>
                  </a:lnTo>
                  <a:lnTo>
                    <a:pt x="6063741" y="164242"/>
                  </a:lnTo>
                  <a:lnTo>
                    <a:pt x="6105270" y="172200"/>
                  </a:lnTo>
                  <a:lnTo>
                    <a:pt x="6146800" y="180276"/>
                  </a:lnTo>
                  <a:lnTo>
                    <a:pt x="6188402" y="188317"/>
                  </a:lnTo>
                  <a:lnTo>
                    <a:pt x="6229969" y="196405"/>
                  </a:lnTo>
                  <a:lnTo>
                    <a:pt x="6271512" y="204779"/>
                  </a:lnTo>
                  <a:lnTo>
                    <a:pt x="6313043" y="213677"/>
                  </a:lnTo>
                  <a:lnTo>
                    <a:pt x="6354572" y="223224"/>
                  </a:lnTo>
                  <a:lnTo>
                    <a:pt x="6396101" y="233283"/>
                  </a:lnTo>
                  <a:lnTo>
                    <a:pt x="6437630" y="243699"/>
                  </a:lnTo>
                  <a:lnTo>
                    <a:pt x="6479158" y="254317"/>
                  </a:lnTo>
                  <a:lnTo>
                    <a:pt x="6520687" y="265070"/>
                  </a:lnTo>
                  <a:lnTo>
                    <a:pt x="6562216" y="276050"/>
                  </a:lnTo>
                  <a:lnTo>
                    <a:pt x="6603745" y="287339"/>
                  </a:lnTo>
                  <a:lnTo>
                    <a:pt x="6645275" y="299021"/>
                  </a:lnTo>
                  <a:lnTo>
                    <a:pt x="6686804" y="311046"/>
                  </a:lnTo>
                  <a:lnTo>
                    <a:pt x="6728333" y="323405"/>
                  </a:lnTo>
                  <a:lnTo>
                    <a:pt x="6769861" y="336240"/>
                  </a:lnTo>
                  <a:lnTo>
                    <a:pt x="6811391" y="349694"/>
                  </a:lnTo>
                  <a:lnTo>
                    <a:pt x="6852920" y="363757"/>
                  </a:lnTo>
                  <a:lnTo>
                    <a:pt x="6894449" y="378380"/>
                  </a:lnTo>
                  <a:lnTo>
                    <a:pt x="6935978" y="393646"/>
                  </a:lnTo>
                  <a:lnTo>
                    <a:pt x="6977507" y="409638"/>
                  </a:lnTo>
                  <a:lnTo>
                    <a:pt x="7019035" y="426194"/>
                  </a:lnTo>
                  <a:lnTo>
                    <a:pt x="7060564" y="443404"/>
                  </a:lnTo>
                  <a:lnTo>
                    <a:pt x="7102093" y="461448"/>
                  </a:lnTo>
                  <a:lnTo>
                    <a:pt x="7143623" y="480504"/>
                  </a:lnTo>
                  <a:lnTo>
                    <a:pt x="7185152" y="500403"/>
                  </a:lnTo>
                  <a:lnTo>
                    <a:pt x="7226681" y="521112"/>
                  </a:lnTo>
                  <a:lnTo>
                    <a:pt x="7268209" y="543012"/>
                  </a:lnTo>
                  <a:lnTo>
                    <a:pt x="7309739" y="566483"/>
                  </a:lnTo>
                  <a:lnTo>
                    <a:pt x="7351268" y="591411"/>
                  </a:lnTo>
                  <a:lnTo>
                    <a:pt x="7392797" y="617601"/>
                  </a:lnTo>
                  <a:lnTo>
                    <a:pt x="7434326" y="645600"/>
                  </a:lnTo>
                  <a:lnTo>
                    <a:pt x="7475855" y="675957"/>
                  </a:lnTo>
                  <a:lnTo>
                    <a:pt x="7517403" y="707771"/>
                  </a:lnTo>
                  <a:lnTo>
                    <a:pt x="7558976" y="741108"/>
                  </a:lnTo>
                  <a:lnTo>
                    <a:pt x="7600549" y="777970"/>
                  </a:lnTo>
                  <a:lnTo>
                    <a:pt x="7642098" y="820356"/>
                  </a:lnTo>
                  <a:lnTo>
                    <a:pt x="7669784" y="850293"/>
                  </a:lnTo>
                  <a:lnTo>
                    <a:pt x="7697470" y="880361"/>
                  </a:lnTo>
                  <a:lnTo>
                    <a:pt x="7725156" y="912574"/>
                  </a:lnTo>
                  <a:lnTo>
                    <a:pt x="7752842" y="948946"/>
                  </a:lnTo>
                  <a:lnTo>
                    <a:pt x="7780528" y="991491"/>
                  </a:lnTo>
                  <a:lnTo>
                    <a:pt x="7808214" y="1042225"/>
                  </a:lnTo>
                  <a:lnTo>
                    <a:pt x="7823598" y="1071985"/>
                  </a:lnTo>
                  <a:lnTo>
                    <a:pt x="7841287" y="1105401"/>
                  </a:lnTo>
                  <a:lnTo>
                    <a:pt x="7860622" y="1143007"/>
                  </a:lnTo>
                  <a:lnTo>
                    <a:pt x="7880945" y="1185335"/>
                  </a:lnTo>
                  <a:lnTo>
                    <a:pt x="7901598" y="1232918"/>
                  </a:lnTo>
                  <a:lnTo>
                    <a:pt x="7921921" y="1286291"/>
                  </a:lnTo>
                  <a:lnTo>
                    <a:pt x="7941256" y="1345985"/>
                  </a:lnTo>
                  <a:lnTo>
                    <a:pt x="7958945" y="1412534"/>
                  </a:lnTo>
                  <a:lnTo>
                    <a:pt x="7974330" y="1486471"/>
                  </a:lnTo>
                  <a:lnTo>
                    <a:pt x="7986195" y="1557002"/>
                  </a:lnTo>
                  <a:lnTo>
                    <a:pt x="7992128" y="1595596"/>
                  </a:lnTo>
                  <a:lnTo>
                    <a:pt x="7998060" y="1636235"/>
                  </a:lnTo>
                  <a:lnTo>
                    <a:pt x="8003993" y="1678788"/>
                  </a:lnTo>
                  <a:lnTo>
                    <a:pt x="8009926" y="1723126"/>
                  </a:lnTo>
                  <a:lnTo>
                    <a:pt x="8015859" y="1769117"/>
                  </a:lnTo>
                  <a:lnTo>
                    <a:pt x="8021791" y="1816632"/>
                  </a:lnTo>
                  <a:lnTo>
                    <a:pt x="8027724" y="1865539"/>
                  </a:lnTo>
                  <a:lnTo>
                    <a:pt x="8033657" y="1915707"/>
                  </a:lnTo>
                  <a:lnTo>
                    <a:pt x="8039589" y="1967008"/>
                  </a:lnTo>
                  <a:lnTo>
                    <a:pt x="8045522" y="2019309"/>
                  </a:lnTo>
                  <a:lnTo>
                    <a:pt x="8051455" y="2072481"/>
                  </a:lnTo>
                  <a:lnTo>
                    <a:pt x="8057388" y="2126392"/>
                  </a:lnTo>
                  <a:lnTo>
                    <a:pt x="8063320" y="2180913"/>
                  </a:lnTo>
                  <a:lnTo>
                    <a:pt x="8069253" y="2235913"/>
                  </a:lnTo>
                  <a:lnTo>
                    <a:pt x="8075186" y="2291261"/>
                  </a:lnTo>
                  <a:lnTo>
                    <a:pt x="8081118" y="2346828"/>
                  </a:lnTo>
                  <a:lnTo>
                    <a:pt x="8087051" y="2402481"/>
                  </a:lnTo>
                  <a:lnTo>
                    <a:pt x="8092984" y="2458091"/>
                  </a:lnTo>
                  <a:lnTo>
                    <a:pt x="8098917" y="2513528"/>
                  </a:lnTo>
                  <a:lnTo>
                    <a:pt x="8104849" y="2568660"/>
                  </a:lnTo>
                  <a:lnTo>
                    <a:pt x="8110782" y="2623358"/>
                  </a:lnTo>
                  <a:lnTo>
                    <a:pt x="8116715" y="2677490"/>
                  </a:lnTo>
                  <a:lnTo>
                    <a:pt x="8122647" y="2730927"/>
                  </a:lnTo>
                  <a:lnTo>
                    <a:pt x="8128580" y="2783537"/>
                  </a:lnTo>
                  <a:lnTo>
                    <a:pt x="8134513" y="2835191"/>
                  </a:lnTo>
                  <a:lnTo>
                    <a:pt x="8140446" y="288575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602351" y="5560872"/>
            <a:ext cx="2673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-</a:t>
            </a: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0.1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62125" y="5527040"/>
            <a:ext cx="3302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1200" b="1" spc="-1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30" dirty="0">
                <a:solidFill>
                  <a:srgbClr val="006FC0"/>
                </a:solidFill>
                <a:latin typeface="Calibri"/>
                <a:cs typeface="Calibri"/>
              </a:rPr>
              <a:t>.1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541777" y="5527040"/>
            <a:ext cx="4108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60" dirty="0">
                <a:solidFill>
                  <a:srgbClr val="006FC0"/>
                </a:solidFill>
                <a:latin typeface="Calibri"/>
                <a:cs typeface="Calibri"/>
              </a:rPr>
              <a:t>0.08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355847" y="5527040"/>
            <a:ext cx="4108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60" dirty="0">
                <a:solidFill>
                  <a:srgbClr val="006FC0"/>
                </a:solidFill>
                <a:latin typeface="Calibri"/>
                <a:cs typeface="Calibri"/>
              </a:rPr>
              <a:t>0.06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169917" y="5527040"/>
            <a:ext cx="4108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60" dirty="0">
                <a:solidFill>
                  <a:srgbClr val="006FC0"/>
                </a:solidFill>
                <a:latin typeface="Calibri"/>
                <a:cs typeface="Calibri"/>
              </a:rPr>
              <a:t>0.04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84115" y="5527040"/>
            <a:ext cx="3956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1200" b="1" spc="-1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  <a:r>
              <a:rPr sz="1200" b="1" spc="-1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25" dirty="0">
                <a:solidFill>
                  <a:srgbClr val="006FC0"/>
                </a:solidFill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938265" y="5527040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631940" y="5527040"/>
            <a:ext cx="3606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solidFill>
                  <a:srgbClr val="006FC0"/>
                </a:solidFill>
                <a:latin typeface="Calibri"/>
                <a:cs typeface="Calibri"/>
              </a:rPr>
              <a:t>0.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25" dirty="0">
                <a:solidFill>
                  <a:srgbClr val="006FC0"/>
                </a:solidFill>
                <a:latin typeface="Calibri"/>
                <a:cs typeface="Calibri"/>
              </a:rPr>
              <a:t>02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446009" y="5527040"/>
            <a:ext cx="3606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solidFill>
                  <a:srgbClr val="006FC0"/>
                </a:solidFill>
                <a:latin typeface="Calibri"/>
                <a:cs typeface="Calibri"/>
              </a:rPr>
              <a:t>0.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25" dirty="0">
                <a:solidFill>
                  <a:srgbClr val="006FC0"/>
                </a:solidFill>
                <a:latin typeface="Calibri"/>
                <a:cs typeface="Calibri"/>
              </a:rPr>
              <a:t>04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260206" y="5527040"/>
            <a:ext cx="3606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solidFill>
                  <a:srgbClr val="006FC0"/>
                </a:solidFill>
                <a:latin typeface="Calibri"/>
                <a:cs typeface="Calibri"/>
              </a:rPr>
              <a:t>0.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25" dirty="0">
                <a:solidFill>
                  <a:srgbClr val="006FC0"/>
                </a:solidFill>
                <a:latin typeface="Calibri"/>
                <a:cs typeface="Calibri"/>
              </a:rPr>
              <a:t>06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074277" y="5527040"/>
            <a:ext cx="3606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solidFill>
                  <a:srgbClr val="006FC0"/>
                </a:solidFill>
                <a:latin typeface="Calibri"/>
                <a:cs typeface="Calibri"/>
              </a:rPr>
              <a:t>0.</a:t>
            </a:r>
            <a:r>
              <a:rPr sz="12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b="1" spc="25" dirty="0">
                <a:solidFill>
                  <a:srgbClr val="006FC0"/>
                </a:solidFill>
                <a:latin typeface="Calibri"/>
                <a:cs typeface="Calibri"/>
              </a:rPr>
              <a:t>08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934193" y="5527040"/>
            <a:ext cx="267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45" dirty="0">
                <a:solidFill>
                  <a:srgbClr val="006FC0"/>
                </a:solidFill>
                <a:latin typeface="Calibri"/>
                <a:cs typeface="Calibri"/>
              </a:rPr>
              <a:t>0.1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14119" y="3999555"/>
            <a:ext cx="203835" cy="12636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0" dirty="0">
                <a:latin typeface="Calibri"/>
                <a:cs typeface="Calibri"/>
              </a:rPr>
              <a:t>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631307" y="5719978"/>
            <a:ext cx="7334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VELOCITY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837176" y="1458594"/>
            <a:ext cx="2162810" cy="534670"/>
          </a:xfrm>
          <a:prstGeom prst="rect">
            <a:avLst/>
          </a:prstGeom>
          <a:solidFill>
            <a:srgbClr val="BCD6ED"/>
          </a:solidFill>
        </p:spPr>
        <p:txBody>
          <a:bodyPr vert="horz" wrap="square" lIns="0" tIns="5080" rIns="0" bIns="0" rtlCol="0">
            <a:spAutoFit/>
          </a:bodyPr>
          <a:lstStyle/>
          <a:p>
            <a:pPr marL="660400" marR="48895" indent="-623570">
              <a:lnSpc>
                <a:spcPct val="101899"/>
              </a:lnSpc>
              <a:spcBef>
                <a:spcPts val="40"/>
              </a:spcBef>
            </a:pPr>
            <a:r>
              <a:rPr sz="1600" b="1" spc="90" dirty="0">
                <a:solidFill>
                  <a:srgbClr val="585858"/>
                </a:solidFill>
                <a:latin typeface="Calibri"/>
                <a:cs typeface="Calibri"/>
              </a:rPr>
              <a:t>VELOCITY</a:t>
            </a:r>
            <a:r>
              <a:rPr sz="1600" b="1" spc="26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90" dirty="0">
                <a:solidFill>
                  <a:srgbClr val="585858"/>
                </a:solidFill>
                <a:latin typeface="Calibri"/>
                <a:cs typeface="Calibri"/>
              </a:rPr>
              <a:t>PROFILE</a:t>
            </a:r>
            <a:r>
              <a:rPr sz="1600" b="1" spc="254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585858"/>
                </a:solidFill>
                <a:latin typeface="Calibri"/>
                <a:cs typeface="Calibri"/>
              </a:rPr>
              <a:t>AT </a:t>
            </a:r>
            <a:r>
              <a:rPr sz="1600" b="1" dirty="0">
                <a:solidFill>
                  <a:srgbClr val="585858"/>
                </a:solidFill>
                <a:latin typeface="Calibri"/>
                <a:cs typeface="Calibri"/>
              </a:rPr>
              <a:t>Z</a:t>
            </a:r>
            <a:r>
              <a:rPr sz="1600" b="1" spc="2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85858"/>
                </a:solidFill>
                <a:latin typeface="Calibri"/>
                <a:cs typeface="Calibri"/>
              </a:rPr>
              <a:t>=</a:t>
            </a:r>
            <a:r>
              <a:rPr sz="1600" b="1" spc="2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85858"/>
                </a:solidFill>
                <a:latin typeface="Calibri"/>
                <a:cs typeface="Calibri"/>
              </a:rPr>
              <a:t>14</a:t>
            </a:r>
            <a:r>
              <a:rPr sz="1600" b="1" spc="2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585858"/>
                </a:solidFill>
                <a:latin typeface="Calibri"/>
                <a:cs typeface="Calibri"/>
              </a:rPr>
              <a:t>M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4" name="object 6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22748" y="2137981"/>
            <a:ext cx="243839" cy="73532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5610859" y="217614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980178" y="2007136"/>
            <a:ext cx="2192020" cy="329882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900430" algn="l"/>
              </a:tabLst>
            </a:pP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Empirical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	CFD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SST</a:t>
            </a:r>
            <a:r>
              <a:rPr sz="9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Y+1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Ansys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meshing</a:t>
            </a:r>
            <a:endParaRPr sz="900">
              <a:latin typeface="Calibri"/>
              <a:cs typeface="Calibri"/>
            </a:endParaRPr>
          </a:p>
          <a:p>
            <a:pPr marL="681355">
              <a:lnSpc>
                <a:spcPct val="100000"/>
              </a:lnSpc>
              <a:spcBef>
                <a:spcPts val="785"/>
              </a:spcBef>
            </a:pP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1.3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200">
              <a:latin typeface="Calibri"/>
              <a:cs typeface="Calibri"/>
            </a:endParaRPr>
          </a:p>
          <a:p>
            <a:pPr marL="681355">
              <a:lnSpc>
                <a:spcPct val="100000"/>
              </a:lnSpc>
            </a:pP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1.1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200">
              <a:latin typeface="Calibri"/>
              <a:cs typeface="Calibri"/>
            </a:endParaRPr>
          </a:p>
          <a:p>
            <a:pPr marL="681355">
              <a:lnSpc>
                <a:spcPct val="100000"/>
              </a:lnSpc>
            </a:pP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0.9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200">
              <a:latin typeface="Calibri"/>
              <a:cs typeface="Calibri"/>
            </a:endParaRPr>
          </a:p>
          <a:p>
            <a:pPr marL="681355">
              <a:lnSpc>
                <a:spcPct val="100000"/>
              </a:lnSpc>
            </a:pP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0.7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200">
              <a:latin typeface="Calibri"/>
              <a:cs typeface="Calibri"/>
            </a:endParaRPr>
          </a:p>
          <a:p>
            <a:pPr marL="681355">
              <a:lnSpc>
                <a:spcPct val="100000"/>
              </a:lnSpc>
            </a:pP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0.5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200">
              <a:latin typeface="Calibri"/>
              <a:cs typeface="Calibri"/>
            </a:endParaRPr>
          </a:p>
          <a:p>
            <a:pPr marL="681355">
              <a:lnSpc>
                <a:spcPct val="100000"/>
              </a:lnSpc>
              <a:spcBef>
                <a:spcPts val="5"/>
              </a:spcBef>
            </a:pP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0.3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200">
              <a:latin typeface="Calibri"/>
              <a:cs typeface="Calibri"/>
            </a:endParaRPr>
          </a:p>
          <a:p>
            <a:pPr marL="681355">
              <a:lnSpc>
                <a:spcPct val="100000"/>
              </a:lnSpc>
              <a:spcBef>
                <a:spcPts val="5"/>
              </a:spcBef>
            </a:pPr>
            <a:r>
              <a:rPr sz="1200" b="1" spc="-25" dirty="0">
                <a:solidFill>
                  <a:srgbClr val="00AF50"/>
                </a:solidFill>
                <a:latin typeface="Calibri"/>
                <a:cs typeface="Calibri"/>
              </a:rPr>
              <a:t>0.1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239514" y="2657348"/>
            <a:ext cx="3713479" cy="1507490"/>
            <a:chOff x="4239514" y="2657348"/>
            <a:chExt cx="3713479" cy="1507490"/>
          </a:xfrm>
        </p:grpSpPr>
        <p:sp>
          <p:nvSpPr>
            <p:cNvPr id="68" name="object 68"/>
            <p:cNvSpPr/>
            <p:nvPr/>
          </p:nvSpPr>
          <p:spPr>
            <a:xfrm>
              <a:off x="7308469" y="2657348"/>
              <a:ext cx="396875" cy="737235"/>
            </a:xfrm>
            <a:custGeom>
              <a:avLst/>
              <a:gdLst/>
              <a:ahLst/>
              <a:cxnLst/>
              <a:rect l="l" t="t" r="r" b="b"/>
              <a:pathLst>
                <a:path w="396875" h="737235">
                  <a:moveTo>
                    <a:pt x="293146" y="139482"/>
                  </a:moveTo>
                  <a:lnTo>
                    <a:pt x="0" y="710818"/>
                  </a:lnTo>
                  <a:lnTo>
                    <a:pt x="50800" y="736980"/>
                  </a:lnTo>
                  <a:lnTo>
                    <a:pt x="343989" y="165559"/>
                  </a:lnTo>
                  <a:lnTo>
                    <a:pt x="293146" y="139482"/>
                  </a:lnTo>
                  <a:close/>
                </a:path>
                <a:path w="396875" h="737235">
                  <a:moveTo>
                    <a:pt x="395665" y="114046"/>
                  </a:moveTo>
                  <a:lnTo>
                    <a:pt x="306197" y="114046"/>
                  </a:lnTo>
                  <a:lnTo>
                    <a:pt x="356997" y="140207"/>
                  </a:lnTo>
                  <a:lnTo>
                    <a:pt x="343989" y="165559"/>
                  </a:lnTo>
                  <a:lnTo>
                    <a:pt x="394842" y="191642"/>
                  </a:lnTo>
                  <a:lnTo>
                    <a:pt x="395665" y="114046"/>
                  </a:lnTo>
                  <a:close/>
                </a:path>
                <a:path w="396875" h="737235">
                  <a:moveTo>
                    <a:pt x="306197" y="114046"/>
                  </a:moveTo>
                  <a:lnTo>
                    <a:pt x="293146" y="139482"/>
                  </a:lnTo>
                  <a:lnTo>
                    <a:pt x="343989" y="165559"/>
                  </a:lnTo>
                  <a:lnTo>
                    <a:pt x="356997" y="140207"/>
                  </a:lnTo>
                  <a:lnTo>
                    <a:pt x="306197" y="114046"/>
                  </a:lnTo>
                  <a:close/>
                </a:path>
                <a:path w="396875" h="737235">
                  <a:moveTo>
                    <a:pt x="396875" y="0"/>
                  </a:moveTo>
                  <a:lnTo>
                    <a:pt x="242315" y="113411"/>
                  </a:lnTo>
                  <a:lnTo>
                    <a:pt x="293146" y="139482"/>
                  </a:lnTo>
                  <a:lnTo>
                    <a:pt x="306197" y="114046"/>
                  </a:lnTo>
                  <a:lnTo>
                    <a:pt x="395665" y="114046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39514" y="3334054"/>
              <a:ext cx="3713099" cy="830656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72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5367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Mesh</a:t>
            </a:r>
            <a:r>
              <a:rPr sz="4000" spc="-180" dirty="0"/>
              <a:t> </a:t>
            </a:r>
            <a:r>
              <a:rPr sz="4000" spc="-35" dirty="0"/>
              <a:t>independence</a:t>
            </a:r>
            <a:r>
              <a:rPr sz="4000" spc="-170" dirty="0"/>
              <a:t> </a:t>
            </a:r>
            <a:r>
              <a:rPr sz="4000" spc="-10" dirty="0"/>
              <a:t>Study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85494" y="1433830"/>
            <a:ext cx="944562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9395" marR="5080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meshes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independence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study.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meshes 	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keep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cell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=0.000318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Y+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&lt;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000" spc="-25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95247" y="5268467"/>
            <a:ext cx="1669414" cy="879475"/>
            <a:chOff x="1795247" y="5268467"/>
            <a:chExt cx="1669414" cy="8794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247" y="5312573"/>
              <a:ext cx="1668829" cy="7423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1471" y="5268467"/>
              <a:ext cx="1513331" cy="8793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6071" y="5343410"/>
              <a:ext cx="1572895" cy="6463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7127" y="5308091"/>
              <a:ext cx="936498" cy="51128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846072" y="5343410"/>
            <a:ext cx="1572895" cy="6464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latin typeface="Calibri"/>
                <a:cs typeface="Calibri"/>
              </a:rPr>
              <a:t>Coarse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37440</a:t>
            </a:r>
            <a:r>
              <a:rPr sz="1800" b="1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Cells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83333" y="5268467"/>
            <a:ext cx="1487805" cy="879475"/>
            <a:chOff x="5483333" y="5268467"/>
            <a:chExt cx="1487805" cy="87947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3333" y="5312573"/>
              <a:ext cx="1487460" cy="7423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97067" y="5268467"/>
              <a:ext cx="1461515" cy="8793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34024" y="5343410"/>
              <a:ext cx="1390650" cy="6463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7568" y="5308091"/>
              <a:ext cx="1090421" cy="51128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534025" y="5343410"/>
            <a:ext cx="1390650" cy="6464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latin typeface="Calibri"/>
                <a:cs typeface="Calibri"/>
              </a:rPr>
              <a:t>Medium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72000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Cells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012935" y="5256276"/>
            <a:ext cx="1577340" cy="879475"/>
            <a:chOff x="9012935" y="5256276"/>
            <a:chExt cx="1577340" cy="87947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58628" y="5300381"/>
              <a:ext cx="1485955" cy="7423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12935" y="5256276"/>
              <a:ext cx="1577340" cy="8793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08820" y="5331053"/>
              <a:ext cx="1390650" cy="6463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59467" y="5294376"/>
              <a:ext cx="697229" cy="51128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108820" y="5331053"/>
            <a:ext cx="1390650" cy="64643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/>
                <a:cs typeface="Calibri"/>
              </a:rPr>
              <a:t>Fine</a:t>
            </a:r>
            <a:endParaRPr sz="18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142875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Cells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5583" y="2701925"/>
            <a:ext cx="10821035" cy="2398395"/>
            <a:chOff x="785583" y="2701925"/>
            <a:chExt cx="10821035" cy="2398395"/>
          </a:xfrm>
        </p:grpSpPr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3683" y="2743580"/>
              <a:ext cx="3617722" cy="23186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04633" y="2724530"/>
              <a:ext cx="3656329" cy="2357120"/>
            </a:xfrm>
            <a:custGeom>
              <a:avLst/>
              <a:gdLst/>
              <a:ahLst/>
              <a:cxnLst/>
              <a:rect l="l" t="t" r="r" b="b"/>
              <a:pathLst>
                <a:path w="3656329" h="2357120">
                  <a:moveTo>
                    <a:pt x="0" y="2356739"/>
                  </a:moveTo>
                  <a:lnTo>
                    <a:pt x="3655822" y="2356739"/>
                  </a:lnTo>
                  <a:lnTo>
                    <a:pt x="3655822" y="0"/>
                  </a:lnTo>
                  <a:lnTo>
                    <a:pt x="0" y="0"/>
                  </a:lnTo>
                  <a:lnTo>
                    <a:pt x="0" y="2356739"/>
                  </a:lnTo>
                  <a:close/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10658" y="2740025"/>
              <a:ext cx="3529711" cy="23186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491608" y="2720975"/>
              <a:ext cx="3568065" cy="2357120"/>
            </a:xfrm>
            <a:custGeom>
              <a:avLst/>
              <a:gdLst/>
              <a:ahLst/>
              <a:cxnLst/>
              <a:rect l="l" t="t" r="r" b="b"/>
              <a:pathLst>
                <a:path w="3568065" h="2357120">
                  <a:moveTo>
                    <a:pt x="0" y="2356739"/>
                  </a:moveTo>
                  <a:lnTo>
                    <a:pt x="3567811" y="2356739"/>
                  </a:lnTo>
                  <a:lnTo>
                    <a:pt x="3567811" y="0"/>
                  </a:lnTo>
                  <a:lnTo>
                    <a:pt x="0" y="0"/>
                  </a:lnTo>
                  <a:lnTo>
                    <a:pt x="0" y="2356739"/>
                  </a:lnTo>
                  <a:close/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40496" y="2740151"/>
              <a:ext cx="3527425" cy="232206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021446" y="2721101"/>
              <a:ext cx="3565525" cy="2360295"/>
            </a:xfrm>
            <a:custGeom>
              <a:avLst/>
              <a:gdLst/>
              <a:ahLst/>
              <a:cxnLst/>
              <a:rect l="l" t="t" r="r" b="b"/>
              <a:pathLst>
                <a:path w="3565525" h="2360295">
                  <a:moveTo>
                    <a:pt x="0" y="2360168"/>
                  </a:moveTo>
                  <a:lnTo>
                    <a:pt x="3565525" y="2360168"/>
                  </a:lnTo>
                  <a:lnTo>
                    <a:pt x="3565525" y="0"/>
                  </a:lnTo>
                  <a:lnTo>
                    <a:pt x="0" y="0"/>
                  </a:lnTo>
                  <a:lnTo>
                    <a:pt x="0" y="2360168"/>
                  </a:lnTo>
                  <a:close/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Velocity</a:t>
            </a:r>
            <a:r>
              <a:rPr spc="-135" dirty="0"/>
              <a:t> </a:t>
            </a:r>
            <a:r>
              <a:rPr spc="-25" dirty="0"/>
              <a:t>profile</a:t>
            </a:r>
            <a:r>
              <a:rPr spc="-135" dirty="0"/>
              <a:t> </a:t>
            </a:r>
            <a:r>
              <a:rPr dirty="0"/>
              <a:t>at</a:t>
            </a:r>
            <a:r>
              <a:rPr spc="-100" dirty="0"/>
              <a:t> </a:t>
            </a:r>
            <a:r>
              <a:rPr dirty="0"/>
              <a:t>Z</a:t>
            </a:r>
            <a:r>
              <a:rPr spc="-100" dirty="0"/>
              <a:t> </a:t>
            </a:r>
            <a:r>
              <a:rPr dirty="0"/>
              <a:t>=</a:t>
            </a:r>
            <a:r>
              <a:rPr spc="-105" dirty="0"/>
              <a:t> </a:t>
            </a:r>
            <a:r>
              <a:rPr dirty="0"/>
              <a:t>14</a:t>
            </a:r>
            <a:r>
              <a:rPr spc="-130" dirty="0"/>
              <a:t> </a:t>
            </a:r>
            <a:r>
              <a:rPr dirty="0"/>
              <a:t>m</a:t>
            </a:r>
            <a:r>
              <a:rPr spc="-125" dirty="0"/>
              <a:t> </a:t>
            </a:r>
            <a:r>
              <a:rPr dirty="0"/>
              <a:t>for</a:t>
            </a:r>
            <a:r>
              <a:rPr spc="-120" dirty="0"/>
              <a:t> </a:t>
            </a:r>
            <a:r>
              <a:rPr spc="-20" dirty="0"/>
              <a:t>three</a:t>
            </a:r>
            <a:r>
              <a:rPr spc="-125" dirty="0"/>
              <a:t> </a:t>
            </a:r>
            <a:r>
              <a:rPr spc="-10" dirty="0"/>
              <a:t>meshes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5494" y="1433830"/>
            <a:ext cx="3727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SST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Turbulence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Y+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2477" y="1863534"/>
            <a:ext cx="6856730" cy="4494530"/>
          </a:xfrm>
          <a:prstGeom prst="rect">
            <a:avLst/>
          </a:prstGeom>
        </p:spPr>
      </p:pic>
      <p:sp>
        <p:nvSpPr>
          <p:cNvPr id="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7545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Axial</a:t>
            </a:r>
            <a:r>
              <a:rPr sz="4000" spc="-175" dirty="0"/>
              <a:t> </a:t>
            </a:r>
            <a:r>
              <a:rPr sz="4000" spc="-35" dirty="0"/>
              <a:t>velocity</a:t>
            </a:r>
            <a:r>
              <a:rPr sz="4000" spc="-185" dirty="0"/>
              <a:t> </a:t>
            </a:r>
            <a:r>
              <a:rPr sz="4000" spc="-30" dirty="0"/>
              <a:t>profile</a:t>
            </a:r>
            <a:r>
              <a:rPr sz="4000" spc="-185" dirty="0"/>
              <a:t> </a:t>
            </a:r>
            <a:r>
              <a:rPr sz="4000" spc="-10" dirty="0"/>
              <a:t>for</a:t>
            </a:r>
            <a:r>
              <a:rPr sz="4000" spc="-180" dirty="0"/>
              <a:t> </a:t>
            </a:r>
            <a:r>
              <a:rPr sz="4000" spc="-25" dirty="0"/>
              <a:t>three</a:t>
            </a:r>
            <a:r>
              <a:rPr sz="4000" spc="-195" dirty="0"/>
              <a:t> </a:t>
            </a:r>
            <a:r>
              <a:rPr sz="4000" spc="-10" dirty="0"/>
              <a:t>meshes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85494" y="1433830"/>
            <a:ext cx="3727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SST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Turbulence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Y+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2108" y="2002231"/>
            <a:ext cx="7329170" cy="4674616"/>
          </a:xfrm>
          <a:prstGeom prst="rect">
            <a:avLst/>
          </a:prstGeom>
        </p:spPr>
      </p:pic>
      <p:sp>
        <p:nvSpPr>
          <p:cNvPr id="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63157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Pressure</a:t>
            </a:r>
            <a:r>
              <a:rPr sz="4000" spc="-180" dirty="0"/>
              <a:t> </a:t>
            </a:r>
            <a:r>
              <a:rPr sz="4000" spc="-20" dirty="0"/>
              <a:t>drop</a:t>
            </a:r>
            <a:r>
              <a:rPr sz="4000" spc="-200" dirty="0"/>
              <a:t> </a:t>
            </a:r>
            <a:r>
              <a:rPr sz="4000" spc="-10" dirty="0"/>
              <a:t>for</a:t>
            </a:r>
            <a:r>
              <a:rPr sz="4000" spc="-180" dirty="0"/>
              <a:t> </a:t>
            </a:r>
            <a:r>
              <a:rPr sz="4000" spc="-20" dirty="0"/>
              <a:t>three</a:t>
            </a:r>
            <a:r>
              <a:rPr sz="4000" spc="-190" dirty="0"/>
              <a:t> </a:t>
            </a:r>
            <a:r>
              <a:rPr sz="4000" spc="-10" dirty="0"/>
              <a:t>meshes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400" y="1331531"/>
            <a:ext cx="7852283" cy="5026533"/>
          </a:xfrm>
          <a:prstGeom prst="rect">
            <a:avLst/>
          </a:prstGeom>
        </p:spPr>
      </p:pic>
      <p:sp>
        <p:nvSpPr>
          <p:cNvPr id="4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3199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Velocity</a:t>
            </a:r>
            <a:r>
              <a:rPr sz="4000" spc="-165" dirty="0"/>
              <a:t> </a:t>
            </a:r>
            <a:r>
              <a:rPr sz="4000" spc="-55" dirty="0"/>
              <a:t>Vectors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245912" y="1559929"/>
            <a:ext cx="7722234" cy="4716780"/>
            <a:chOff x="2245912" y="1559929"/>
            <a:chExt cx="7722234" cy="4716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5912" y="1559929"/>
              <a:ext cx="7722190" cy="47163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2236" y="1775421"/>
              <a:ext cx="1309115" cy="4846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7872" y="1741919"/>
              <a:ext cx="1050023" cy="6248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2053" y="1816468"/>
              <a:ext cx="1195197" cy="3693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05784" y="1780044"/>
              <a:ext cx="822198" cy="5112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22420" y="1780044"/>
              <a:ext cx="419849" cy="51128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472053" y="1816468"/>
            <a:ext cx="1195705" cy="3695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/>
                <a:cs typeface="Calibri"/>
              </a:rPr>
              <a:t>Coarse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66076" y="1402067"/>
            <a:ext cx="1309370" cy="625475"/>
            <a:chOff x="7466076" y="1402067"/>
            <a:chExt cx="1309370" cy="62547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66076" y="1437157"/>
              <a:ext cx="1309116" cy="48308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22464" y="1402067"/>
              <a:ext cx="1203959" cy="62485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4750" y="1476870"/>
              <a:ext cx="1195197" cy="3693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80376" y="1440192"/>
              <a:ext cx="1090422" cy="5112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524750" y="1476870"/>
            <a:ext cx="1195705" cy="3695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/>
                <a:cs typeface="Calibri"/>
              </a:rPr>
              <a:t>Medium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546847" y="3878567"/>
            <a:ext cx="1309370" cy="625475"/>
            <a:chOff x="7546847" y="3878567"/>
            <a:chExt cx="1309370" cy="625475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46847" y="3913657"/>
              <a:ext cx="1309116" cy="4830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01355" y="3878567"/>
              <a:ext cx="810755" cy="62485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6283" y="3953243"/>
              <a:ext cx="1195197" cy="3693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59267" y="3916692"/>
              <a:ext cx="697229" cy="51128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606283" y="3953243"/>
            <a:ext cx="1195705" cy="36957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/>
                <a:cs typeface="Calibri"/>
              </a:rPr>
              <a:t>Fine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48444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/>
              <a:t>Turbulence</a:t>
            </a:r>
            <a:r>
              <a:rPr sz="4000" spc="-165" dirty="0"/>
              <a:t> </a:t>
            </a:r>
            <a:r>
              <a:rPr sz="4000" spc="-20" dirty="0"/>
              <a:t>model</a:t>
            </a:r>
            <a:r>
              <a:rPr sz="4000" spc="-160" dirty="0"/>
              <a:t> </a:t>
            </a:r>
            <a:r>
              <a:rPr sz="4000" spc="-10" dirty="0"/>
              <a:t>study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285494" y="1433830"/>
            <a:ext cx="39757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SST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RKE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Y+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Medium</a:t>
            </a:r>
            <a:r>
              <a:rPr sz="2000" spc="-20" dirty="0">
                <a:latin typeface="Calibri"/>
                <a:cs typeface="Calibri"/>
              </a:rPr>
              <a:t> mesh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93391" y="2879344"/>
          <a:ext cx="7204709" cy="202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5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CFD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(RKE)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14935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CFD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(SST)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473709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Empirical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R="12573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Darcy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factor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3335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0.0341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1430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0.030886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126364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Coefficient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3335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0.00853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0.00812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0.00772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123189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Pressure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drop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∆</a:t>
                      </a:r>
                      <a:r>
                        <a:rPr sz="2000" spc="-15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𝑷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6858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3335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855.16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1430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811.705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772.15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3837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Y+</a:t>
            </a:r>
            <a:r>
              <a:rPr sz="4000" spc="-105" dirty="0"/>
              <a:t> </a:t>
            </a:r>
            <a:r>
              <a:rPr sz="4000" spc="-65" dirty="0"/>
              <a:t>effect</a:t>
            </a:r>
            <a:r>
              <a:rPr sz="4000" spc="-120" dirty="0"/>
              <a:t> </a:t>
            </a:r>
            <a:r>
              <a:rPr sz="4000" dirty="0"/>
              <a:t>on</a:t>
            </a:r>
            <a:r>
              <a:rPr sz="4000" spc="-100" dirty="0"/>
              <a:t> </a:t>
            </a:r>
            <a:r>
              <a:rPr sz="4000" spc="-10" dirty="0"/>
              <a:t>results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85494" y="1433830"/>
            <a:ext cx="379920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SST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Y+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Medium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mesh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93391" y="2879344"/>
          <a:ext cx="7205978" cy="202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5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CFD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(Y+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CFD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(Y+10)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Empirical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R="12573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Darcy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factor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08585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0.0327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0.030886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126364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Coefficient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R="10858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0.00812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0.00818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5725" marB="0"/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0.00772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123189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Pressure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drop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∆</a:t>
                      </a:r>
                      <a:r>
                        <a:rPr sz="2000" spc="-15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𝑷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6858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0858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811.705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811.705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772.15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9021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ANSYS</a:t>
            </a:r>
            <a:r>
              <a:rPr sz="4000" spc="-155" dirty="0"/>
              <a:t> </a:t>
            </a:r>
            <a:r>
              <a:rPr sz="4000" spc="-60" dirty="0"/>
              <a:t>Workbench</a:t>
            </a:r>
            <a:r>
              <a:rPr sz="4000" spc="-155" dirty="0"/>
              <a:t> </a:t>
            </a:r>
            <a:r>
              <a:rPr sz="4000" spc="-10" dirty="0"/>
              <a:t>Mesh</a:t>
            </a:r>
            <a:r>
              <a:rPr sz="4000" spc="-155" dirty="0"/>
              <a:t> </a:t>
            </a:r>
            <a:r>
              <a:rPr sz="4000" dirty="0"/>
              <a:t>and</a:t>
            </a:r>
            <a:r>
              <a:rPr sz="4000" spc="-140" dirty="0"/>
              <a:t> </a:t>
            </a:r>
            <a:r>
              <a:rPr sz="4000" spc="-20" dirty="0"/>
              <a:t>ICEMCFD</a:t>
            </a:r>
            <a:r>
              <a:rPr sz="4000" spc="-155" dirty="0"/>
              <a:t> </a:t>
            </a:r>
            <a:r>
              <a:rPr sz="4000" spc="-20" dirty="0"/>
              <a:t>Mesh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85494" y="1433830"/>
            <a:ext cx="4629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Both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cells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72000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36664" y="2201672"/>
            <a:ext cx="4695190" cy="3276600"/>
            <a:chOff x="6836664" y="2201672"/>
            <a:chExt cx="4695190" cy="32766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4764" y="2239772"/>
              <a:ext cx="4618735" cy="3200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5714" y="2220722"/>
              <a:ext cx="4657090" cy="3238500"/>
            </a:xfrm>
            <a:custGeom>
              <a:avLst/>
              <a:gdLst/>
              <a:ahLst/>
              <a:cxnLst/>
              <a:rect l="l" t="t" r="r" b="b"/>
              <a:pathLst>
                <a:path w="4657090" h="3238500">
                  <a:moveTo>
                    <a:pt x="0" y="3238500"/>
                  </a:moveTo>
                  <a:lnTo>
                    <a:pt x="4656835" y="3238500"/>
                  </a:lnTo>
                  <a:lnTo>
                    <a:pt x="4656835" y="0"/>
                  </a:lnTo>
                  <a:lnTo>
                    <a:pt x="0" y="0"/>
                  </a:lnTo>
                  <a:lnTo>
                    <a:pt x="0" y="3238500"/>
                  </a:lnTo>
                  <a:close/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456563" y="2201672"/>
            <a:ext cx="4948555" cy="3276600"/>
            <a:chOff x="1456563" y="2201672"/>
            <a:chExt cx="4948555" cy="32766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4663" y="2239772"/>
              <a:ext cx="4872228" cy="32004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75613" y="2220722"/>
              <a:ext cx="4910455" cy="3238500"/>
            </a:xfrm>
            <a:custGeom>
              <a:avLst/>
              <a:gdLst/>
              <a:ahLst/>
              <a:cxnLst/>
              <a:rect l="l" t="t" r="r" b="b"/>
              <a:pathLst>
                <a:path w="4910455" h="3238500">
                  <a:moveTo>
                    <a:pt x="0" y="3238500"/>
                  </a:moveTo>
                  <a:lnTo>
                    <a:pt x="4910328" y="3238500"/>
                  </a:lnTo>
                  <a:lnTo>
                    <a:pt x="4910328" y="0"/>
                  </a:lnTo>
                  <a:lnTo>
                    <a:pt x="0" y="0"/>
                  </a:lnTo>
                  <a:lnTo>
                    <a:pt x="0" y="3238500"/>
                  </a:lnTo>
                  <a:close/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324095" y="5646420"/>
            <a:ext cx="3208655" cy="899794"/>
            <a:chOff x="2324095" y="5646420"/>
            <a:chExt cx="3208655" cy="89979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4095" y="5690525"/>
              <a:ext cx="3208028" cy="7423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0508" y="5646420"/>
              <a:ext cx="2784347" cy="899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74900" y="5721451"/>
              <a:ext cx="3111500" cy="646430"/>
            </a:xfrm>
            <a:custGeom>
              <a:avLst/>
              <a:gdLst/>
              <a:ahLst/>
              <a:cxnLst/>
              <a:rect l="l" t="t" r="r" b="b"/>
              <a:pathLst>
                <a:path w="3111500" h="646429">
                  <a:moveTo>
                    <a:pt x="3111500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3111500" y="646328"/>
                  </a:lnTo>
                  <a:lnTo>
                    <a:pt x="31115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3032" y="5686044"/>
              <a:ext cx="2021586" cy="51128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8420" y="5960364"/>
              <a:ext cx="2670810" cy="5112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374900" y="5721451"/>
            <a:ext cx="3111500" cy="6464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72745" marR="366395" indent="32448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ANSYS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Workbench </a:t>
            </a:r>
            <a:r>
              <a:rPr sz="1800" dirty="0">
                <a:latin typeface="Calibri"/>
                <a:cs typeface="Calibri"/>
              </a:rPr>
              <a:t>Min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ortho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quality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~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0.779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578838" y="5655564"/>
            <a:ext cx="3205480" cy="899794"/>
            <a:chOff x="7578838" y="5655564"/>
            <a:chExt cx="3205480" cy="899794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78838" y="5699669"/>
              <a:ext cx="3204997" cy="75143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95259" y="5655564"/>
              <a:ext cx="2784348" cy="899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29651" y="5731167"/>
              <a:ext cx="3108960" cy="646430"/>
            </a:xfrm>
            <a:custGeom>
              <a:avLst/>
              <a:gdLst/>
              <a:ahLst/>
              <a:cxnLst/>
              <a:rect l="l" t="t" r="r" b="b"/>
              <a:pathLst>
                <a:path w="3108959" h="646429">
                  <a:moveTo>
                    <a:pt x="3108959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3108959" y="646328"/>
                  </a:lnTo>
                  <a:lnTo>
                    <a:pt x="310895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09075" y="5695188"/>
              <a:ext cx="1159002" cy="5112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53171" y="5969508"/>
              <a:ext cx="2149602" cy="51128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97211" y="5969508"/>
              <a:ext cx="826770" cy="51128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629652" y="5731167"/>
            <a:ext cx="3108960" cy="6464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latin typeface="Calibri"/>
                <a:cs typeface="Calibri"/>
              </a:rPr>
              <a:t>ICEMCFD</a:t>
            </a:r>
            <a:endParaRPr sz="18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Min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ortho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quality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~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0.822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5839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Y</a:t>
            </a:r>
            <a:r>
              <a:rPr sz="4000" spc="-155" dirty="0"/>
              <a:t> </a:t>
            </a:r>
            <a:r>
              <a:rPr sz="4000" dirty="0"/>
              <a:t>plus</a:t>
            </a:r>
            <a:r>
              <a:rPr sz="4000" spc="-175" dirty="0"/>
              <a:t> </a:t>
            </a:r>
            <a:r>
              <a:rPr sz="4000" spc="-25" dirty="0"/>
              <a:t>graph</a:t>
            </a:r>
            <a:r>
              <a:rPr sz="4000" spc="-190" dirty="0"/>
              <a:t> </a:t>
            </a:r>
            <a:r>
              <a:rPr sz="4000" dirty="0"/>
              <a:t>for</a:t>
            </a:r>
            <a:r>
              <a:rPr sz="4000" spc="-155" dirty="0"/>
              <a:t> </a:t>
            </a:r>
            <a:r>
              <a:rPr sz="4000" dirty="0"/>
              <a:t>both</a:t>
            </a:r>
            <a:r>
              <a:rPr sz="4000" spc="-180" dirty="0"/>
              <a:t> </a:t>
            </a:r>
            <a:r>
              <a:rPr sz="4000" spc="-10" dirty="0"/>
              <a:t>meshes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6489" y="1447787"/>
            <a:ext cx="7399146" cy="4832731"/>
          </a:xfrm>
          <a:prstGeom prst="rect">
            <a:avLst/>
          </a:prstGeom>
        </p:spPr>
      </p:pic>
      <p:sp>
        <p:nvSpPr>
          <p:cNvPr id="4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66535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5" dirty="0"/>
              <a:t>Effect</a:t>
            </a:r>
            <a:r>
              <a:rPr sz="4000" spc="-145" dirty="0"/>
              <a:t> </a:t>
            </a:r>
            <a:r>
              <a:rPr sz="4000" dirty="0"/>
              <a:t>of</a:t>
            </a:r>
            <a:r>
              <a:rPr sz="4000" spc="-105" dirty="0"/>
              <a:t> </a:t>
            </a:r>
            <a:r>
              <a:rPr sz="4000" spc="-55" dirty="0"/>
              <a:t>different</a:t>
            </a:r>
            <a:r>
              <a:rPr sz="4000" spc="-145" dirty="0"/>
              <a:t> </a:t>
            </a:r>
            <a:r>
              <a:rPr sz="4000" spc="-30" dirty="0"/>
              <a:t>meshing</a:t>
            </a:r>
            <a:r>
              <a:rPr sz="4000" spc="-155" dirty="0"/>
              <a:t> </a:t>
            </a:r>
            <a:r>
              <a:rPr sz="4000" spc="-10" dirty="0"/>
              <a:t>Codes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85494" y="1433830"/>
            <a:ext cx="34950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SST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Y+1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Medium</a:t>
            </a:r>
            <a:r>
              <a:rPr sz="2000" spc="-20" dirty="0">
                <a:latin typeface="Calibri"/>
                <a:cs typeface="Calibri"/>
              </a:rPr>
              <a:t> mesh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93391" y="2879344"/>
          <a:ext cx="7475853" cy="202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605">
                <a:tc gridSpan="2">
                  <a:txBody>
                    <a:bodyPr/>
                    <a:lstStyle/>
                    <a:p>
                      <a:pPr marL="259905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CFD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5984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(ANSYS</a:t>
                      </a:r>
                      <a:r>
                        <a:rPr sz="1800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Workbench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 marR="204470" indent="312420">
                        <a:lnSpc>
                          <a:spcPct val="101099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CFD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(ICEMCFD)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Empirical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R="2679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Darcy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factor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92759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636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0.030886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26860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Coefficient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0.00812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0.00812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5725" marB="0"/>
                </a:tc>
                <a:tc>
                  <a:txBody>
                    <a:bodyPr/>
                    <a:lstStyle/>
                    <a:p>
                      <a:pPr marR="8636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0.00772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2679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Pressure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drop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∆</a:t>
                      </a:r>
                      <a:r>
                        <a:rPr sz="2000" spc="-15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𝑷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6858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811.705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812.002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699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772.15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6762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Radial</a:t>
            </a:r>
            <a:r>
              <a:rPr sz="4000" spc="-165" dirty="0"/>
              <a:t> </a:t>
            </a:r>
            <a:r>
              <a:rPr sz="4000" spc="-35" dirty="0"/>
              <a:t>velocity</a:t>
            </a:r>
            <a:r>
              <a:rPr sz="4000" spc="-175" dirty="0"/>
              <a:t> </a:t>
            </a:r>
            <a:r>
              <a:rPr sz="4000" spc="-30" dirty="0"/>
              <a:t>profile</a:t>
            </a:r>
            <a:r>
              <a:rPr sz="4000" spc="-180" dirty="0"/>
              <a:t> </a:t>
            </a:r>
            <a:r>
              <a:rPr sz="4000" spc="-10" dirty="0"/>
              <a:t>comparison</a:t>
            </a:r>
            <a:endParaRPr sz="4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5FA07-2C2A-DE00-967A-54F62EDB1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19200"/>
            <a:ext cx="10003180" cy="5153152"/>
          </a:xfrm>
          <a:prstGeom prst="rect">
            <a:avLst/>
          </a:prstGeom>
        </p:spPr>
      </p:pic>
      <p:sp>
        <p:nvSpPr>
          <p:cNvPr id="6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5494" y="333248"/>
            <a:ext cx="3860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Center</a:t>
            </a:r>
            <a:r>
              <a:rPr sz="4000" spc="-170" dirty="0"/>
              <a:t> </a:t>
            </a:r>
            <a:r>
              <a:rPr sz="4000" dirty="0"/>
              <a:t>line</a:t>
            </a:r>
            <a:r>
              <a:rPr sz="4000" spc="-180" dirty="0"/>
              <a:t> </a:t>
            </a:r>
            <a:r>
              <a:rPr sz="4000" spc="-10" dirty="0"/>
              <a:t>velocity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1300" y="1746821"/>
            <a:ext cx="6881876" cy="4312285"/>
          </a:xfrm>
          <a:prstGeom prst="rect">
            <a:avLst/>
          </a:prstGeom>
        </p:spPr>
      </p:pic>
      <p:sp>
        <p:nvSpPr>
          <p:cNvPr id="4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66317" y="2571953"/>
            <a:ext cx="102482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CFD</a:t>
            </a:r>
            <a:r>
              <a:rPr sz="6000" spc="-85" dirty="0"/>
              <a:t> </a:t>
            </a:r>
            <a:r>
              <a:rPr sz="6000" dirty="0"/>
              <a:t>with</a:t>
            </a:r>
            <a:r>
              <a:rPr sz="6000" spc="-85" dirty="0"/>
              <a:t> </a:t>
            </a:r>
            <a:r>
              <a:rPr sz="6000" dirty="0"/>
              <a:t>ICEMCFD</a:t>
            </a:r>
            <a:r>
              <a:rPr sz="6000" spc="-85" dirty="0"/>
              <a:t> </a:t>
            </a:r>
            <a:r>
              <a:rPr sz="6000" dirty="0"/>
              <a:t>Hexa</a:t>
            </a:r>
            <a:r>
              <a:rPr sz="6000" spc="-85" dirty="0"/>
              <a:t> </a:t>
            </a:r>
            <a:r>
              <a:rPr sz="6000" spc="-10" dirty="0"/>
              <a:t>Meshing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82110" y="610615"/>
            <a:ext cx="44710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Microsoft Sans Serif"/>
                <a:cs typeface="Microsoft Sans Serif"/>
              </a:rPr>
              <a:t>Hexa</a:t>
            </a:r>
            <a:r>
              <a:rPr sz="3200" spc="-2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Mesh</a:t>
            </a:r>
            <a:r>
              <a:rPr sz="3200" spc="-1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in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ICEMCFD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3607" y="1708785"/>
            <a:ext cx="4382770" cy="113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height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0.00029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Y+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sz="2000" spc="-30" dirty="0">
                <a:latin typeface="Calibri"/>
                <a:cs typeface="Calibri"/>
              </a:rPr>
              <a:t>Total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cells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115668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cells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3138" y="3306508"/>
            <a:ext cx="3974846" cy="278472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344158" y="1801114"/>
            <a:ext cx="4611370" cy="4575175"/>
            <a:chOff x="6344158" y="1801114"/>
            <a:chExt cx="4611370" cy="45751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4158" y="1801114"/>
              <a:ext cx="4611370" cy="26149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47709" y="4215028"/>
              <a:ext cx="2107692" cy="216115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932411" y="6601231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09545" y="356108"/>
            <a:ext cx="74237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Sans Serif"/>
                <a:cs typeface="Microsoft Sans Serif"/>
              </a:rPr>
              <a:t>Comparison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Coefficient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Friction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4580" y="1704594"/>
            <a:ext cx="7514590" cy="119443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Friction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factor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smooth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pipe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current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case</a:t>
            </a:r>
            <a:endParaRPr sz="1800">
              <a:latin typeface="Calibri"/>
              <a:cs typeface="Calibri"/>
            </a:endParaRPr>
          </a:p>
          <a:p>
            <a:pPr marL="95250" algn="ctr">
              <a:lnSpc>
                <a:spcPct val="100000"/>
              </a:lnSpc>
              <a:spcBef>
                <a:spcPts val="685"/>
              </a:spcBef>
            </a:pPr>
            <a:r>
              <a:rPr sz="2400" dirty="0">
                <a:solidFill>
                  <a:srgbClr val="001F5F"/>
                </a:solidFill>
                <a:latin typeface="Cambria Math"/>
                <a:cs typeface="Cambria Math"/>
              </a:rPr>
              <a:t>𝒇</a:t>
            </a:r>
            <a:r>
              <a:rPr sz="2400" spc="135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r>
              <a:rPr sz="2400" spc="125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mbria Math"/>
                <a:cs typeface="Cambria Math"/>
              </a:rPr>
              <a:t>𝟎.</a:t>
            </a:r>
            <a:r>
              <a:rPr sz="2400" spc="-13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mbria Math"/>
                <a:cs typeface="Cambria Math"/>
              </a:rPr>
              <a:t>𝟎𝟑𝟎𝟖𝟖𝟔</a:t>
            </a:r>
            <a:endParaRPr sz="2400">
              <a:latin typeface="Cambria Math"/>
              <a:cs typeface="Cambria Math"/>
            </a:endParaRPr>
          </a:p>
          <a:p>
            <a:pPr marL="927100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Calibri"/>
                <a:cs typeface="Calibri"/>
              </a:rPr>
              <a:t>Please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Colebrook</a:t>
            </a:r>
            <a:r>
              <a:rPr sz="18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equation,</a:t>
            </a:r>
            <a:r>
              <a:rPr sz="18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same</a:t>
            </a:r>
            <a:r>
              <a:rPr sz="18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results</a:t>
            </a:r>
            <a:r>
              <a:rPr sz="18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were</a:t>
            </a:r>
            <a:r>
              <a:rPr sz="18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obtained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180" y="3379470"/>
            <a:ext cx="339915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47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64795" algn="l"/>
              </a:tabLst>
            </a:pPr>
            <a:r>
              <a:rPr sz="2000" dirty="0">
                <a:latin typeface="Calibri"/>
                <a:cs typeface="Calibri"/>
              </a:rPr>
              <a:t>So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𝐶</a:t>
            </a:r>
            <a:r>
              <a:rPr sz="2175" baseline="-15325" dirty="0">
                <a:latin typeface="Cambria Math"/>
                <a:cs typeface="Cambria Math"/>
              </a:rPr>
              <a:t>𝑓</a:t>
            </a:r>
            <a:r>
              <a:rPr sz="2175" spc="397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0.007215</a:t>
            </a:r>
            <a:r>
              <a:rPr sz="2000" spc="-3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libri"/>
                <a:cs typeface="Calibri"/>
              </a:rPr>
              <a:t>(Empirical)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6480" y="4208526"/>
            <a:ext cx="8817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9400" algn="l"/>
                <a:tab pos="3512185" algn="l"/>
              </a:tabLst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CFD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𝐶</a:t>
            </a:r>
            <a:r>
              <a:rPr sz="1950" baseline="-14957" dirty="0">
                <a:latin typeface="Cambria Math"/>
                <a:cs typeface="Cambria Math"/>
              </a:rPr>
              <a:t>𝑓</a:t>
            </a:r>
            <a:r>
              <a:rPr sz="1950" spc="3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0.00857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Realizable</a:t>
            </a:r>
            <a:r>
              <a:rPr sz="18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K-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Epsilon</a:t>
            </a:r>
            <a:r>
              <a:rPr sz="18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model</a:t>
            </a:r>
            <a:r>
              <a:rPr sz="18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Y+~1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ICEMCFD</a:t>
            </a:r>
            <a:r>
              <a:rPr sz="18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mesh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80" y="5028691"/>
            <a:ext cx="1336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mbria Math"/>
                <a:cs typeface="Cambria Math"/>
              </a:rPr>
              <a:t>%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𝐸𝑟𝑟𝑜𝑟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23744" y="5195823"/>
            <a:ext cx="1449705" cy="15240"/>
          </a:xfrm>
          <a:custGeom>
            <a:avLst/>
            <a:gdLst/>
            <a:ahLst/>
            <a:cxnLst/>
            <a:rect l="l" t="t" r="r" b="b"/>
            <a:pathLst>
              <a:path w="1449704" h="15239">
                <a:moveTo>
                  <a:pt x="1449324" y="0"/>
                </a:moveTo>
                <a:lnTo>
                  <a:pt x="0" y="0"/>
                </a:lnTo>
                <a:lnTo>
                  <a:pt x="0" y="15239"/>
                </a:lnTo>
                <a:lnTo>
                  <a:pt x="1449324" y="15239"/>
                </a:lnTo>
                <a:lnTo>
                  <a:pt x="1449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60294" y="5203952"/>
            <a:ext cx="73977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 Math"/>
                <a:cs typeface="Cambria Math"/>
              </a:rPr>
              <a:t>0.007215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85898" y="4894579"/>
            <a:ext cx="2926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00" spc="10" dirty="0">
                <a:latin typeface="Cambria Math"/>
                <a:cs typeface="Cambria Math"/>
              </a:rPr>
              <a:t>0.00857−0.007215</a:t>
            </a:r>
            <a:r>
              <a:rPr sz="1300" spc="125" dirty="0">
                <a:latin typeface="Cambria Math"/>
                <a:cs typeface="Cambria Math"/>
              </a:rPr>
              <a:t> </a:t>
            </a:r>
            <a:r>
              <a:rPr sz="2700" spc="15" baseline="-32407" dirty="0">
                <a:latin typeface="Cambria Math"/>
                <a:cs typeface="Cambria Math"/>
              </a:rPr>
              <a:t>×</a:t>
            </a:r>
            <a:r>
              <a:rPr sz="2700" spc="60" baseline="-32407" dirty="0">
                <a:latin typeface="Cambria Math"/>
                <a:cs typeface="Cambria Math"/>
              </a:rPr>
              <a:t> </a:t>
            </a:r>
            <a:r>
              <a:rPr sz="2700" spc="15" baseline="-32407" dirty="0">
                <a:latin typeface="Cambria Math"/>
                <a:cs typeface="Cambria Math"/>
              </a:rPr>
              <a:t>100</a:t>
            </a:r>
            <a:r>
              <a:rPr sz="2700" spc="232" baseline="-32407" dirty="0">
                <a:latin typeface="Cambria Math"/>
                <a:cs typeface="Cambria Math"/>
              </a:rPr>
              <a:t> </a:t>
            </a:r>
            <a:r>
              <a:rPr sz="2700" spc="15" baseline="-32407" dirty="0">
                <a:latin typeface="Cambria Math"/>
                <a:cs typeface="Cambria Math"/>
              </a:rPr>
              <a:t>=</a:t>
            </a:r>
            <a:r>
              <a:rPr sz="2700" spc="232" baseline="-32407" dirty="0">
                <a:latin typeface="Cambria Math"/>
                <a:cs typeface="Cambria Math"/>
              </a:rPr>
              <a:t> </a:t>
            </a:r>
            <a:r>
              <a:rPr sz="2700" spc="-37" baseline="-32407" dirty="0">
                <a:latin typeface="Cambria Math"/>
                <a:cs typeface="Cambria Math"/>
              </a:rPr>
              <a:t>18%</a:t>
            </a:r>
            <a:endParaRPr sz="2700" baseline="-32407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420161" y="2028723"/>
            <a:ext cx="2585085" cy="729615"/>
            <a:chOff x="9420161" y="2028723"/>
            <a:chExt cx="2585085" cy="7296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8799" y="2057234"/>
              <a:ext cx="2527807" cy="6722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434448" y="2043010"/>
              <a:ext cx="2556510" cy="701040"/>
            </a:xfrm>
            <a:custGeom>
              <a:avLst/>
              <a:gdLst/>
              <a:ahLst/>
              <a:cxnLst/>
              <a:rect l="l" t="t" r="r" b="b"/>
              <a:pathLst>
                <a:path w="2556509" h="701039">
                  <a:moveTo>
                    <a:pt x="0" y="700824"/>
                  </a:moveTo>
                  <a:lnTo>
                    <a:pt x="2556510" y="700824"/>
                  </a:lnTo>
                  <a:lnTo>
                    <a:pt x="2556510" y="0"/>
                  </a:lnTo>
                  <a:lnTo>
                    <a:pt x="0" y="0"/>
                  </a:lnTo>
                  <a:lnTo>
                    <a:pt x="0" y="700824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1152378" y="3512946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182879" y="0"/>
                </a:moveTo>
                <a:lnTo>
                  <a:pt x="0" y="0"/>
                </a:lnTo>
                <a:lnTo>
                  <a:pt x="0" y="19812"/>
                </a:lnTo>
                <a:lnTo>
                  <a:pt x="182879" y="19812"/>
                </a:lnTo>
                <a:lnTo>
                  <a:pt x="18287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382250" y="3062096"/>
            <a:ext cx="96710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5970">
              <a:lnSpc>
                <a:spcPts val="2345"/>
              </a:lnSpc>
              <a:spcBef>
                <a:spcPts val="100"/>
              </a:spcBef>
            </a:pPr>
            <a:r>
              <a:rPr sz="2400" spc="-50" dirty="0">
                <a:solidFill>
                  <a:srgbClr val="001F5F"/>
                </a:solidFill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1710"/>
              </a:lnSpc>
            </a:pPr>
            <a:r>
              <a:rPr sz="2400" dirty="0">
                <a:solidFill>
                  <a:srgbClr val="001F5F"/>
                </a:solidFill>
                <a:latin typeface="Cambria Math"/>
                <a:cs typeface="Cambria Math"/>
              </a:rPr>
              <a:t>𝑪𝒇</a:t>
            </a:r>
            <a:r>
              <a:rPr sz="2400" spc="130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771525">
              <a:lnSpc>
                <a:spcPts val="2245"/>
              </a:lnSpc>
            </a:pPr>
            <a:r>
              <a:rPr sz="2400" spc="-50" dirty="0">
                <a:solidFill>
                  <a:srgbClr val="001F5F"/>
                </a:solidFill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32411" y="6601231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68281" y="1596897"/>
            <a:ext cx="1715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S.E.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Haaland</a:t>
            </a: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1983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494" y="381000"/>
            <a:ext cx="9621011" cy="574040"/>
          </a:xfrm>
        </p:spPr>
        <p:txBody>
          <a:bodyPr/>
          <a:lstStyle/>
          <a:p>
            <a:r>
              <a:rPr b="1" dirty="0"/>
              <a:t>Conclusion</a:t>
            </a:r>
            <a:r>
              <a:rPr lang="en-US" b="1" dirty="0"/>
              <a:t>:</a:t>
            </a:r>
            <a:endParaRPr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1371600"/>
            <a:ext cx="8305799" cy="400109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2000" b="1" dirty="0">
                <a:solidFill>
                  <a:srgbClr val="003366"/>
                </a:solidFill>
                <a:latin typeface="Calibri"/>
              </a:rPr>
              <a:t>SST k-ω Model Validation:</a:t>
            </a:r>
            <a:r>
              <a:rPr sz="2000" b="0" dirty="0">
                <a:solidFill>
                  <a:srgbClr val="000000"/>
                </a:solidFill>
                <a:latin typeface="Calibri"/>
              </a:rPr>
              <a:t> Highly accurate for turbulent pipe flow at Re = 10,000, validating within 5% of Haaland's empirical correlation.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003366"/>
                </a:solidFill>
                <a:latin typeface="Calibri"/>
              </a:rPr>
              <a:t>Turbulence Model Comparison:</a:t>
            </a:r>
            <a:r>
              <a:rPr sz="2000" b="0" dirty="0">
                <a:solidFill>
                  <a:srgbClr val="000000"/>
                </a:solidFill>
                <a:latin typeface="Calibri"/>
              </a:rPr>
              <a:t> Realizable k-ε (RKE) model yields a higher deviation (~11% error) compared to SST under identical mesh configurations.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003366"/>
                </a:solidFill>
                <a:latin typeface="Calibri"/>
              </a:rPr>
              <a:t>Near-Wall Resolution:</a:t>
            </a:r>
            <a:r>
              <a:rPr sz="2000" b="0" dirty="0">
                <a:solidFill>
                  <a:srgbClr val="000000"/>
                </a:solidFill>
                <a:latin typeface="Calibri"/>
              </a:rPr>
              <a:t> Resolving the viscous sublayer (Y+ ~ 1) is critical for accurate near-wall velocity and friction coefficient predictions.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003366"/>
                </a:solidFill>
                <a:latin typeface="Calibri"/>
              </a:rPr>
              <a:t>Mesh Independence:</a:t>
            </a:r>
            <a:r>
              <a:rPr sz="2000" b="0" dirty="0">
                <a:solidFill>
                  <a:srgbClr val="000000"/>
                </a:solidFill>
                <a:latin typeface="Calibri"/>
              </a:rPr>
              <a:t> Achieved at a medium mesh resolution (72,000 cells), showing no significant change in bulk parameters compared to the fine mesh (142,875 cells).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003366"/>
                </a:solidFill>
                <a:latin typeface="Calibri"/>
              </a:rPr>
              <a:t>Meshing Code Consistency:</a:t>
            </a:r>
            <a:r>
              <a:rPr sz="2000" b="0" dirty="0">
                <a:solidFill>
                  <a:srgbClr val="000000"/>
                </a:solidFill>
                <a:latin typeface="Calibri"/>
              </a:rPr>
              <a:t> Mesh quality and code comparison show consistent pressure drop predictions between ANSYS Workbench and ICEMCFD.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07316" y="6601053"/>
            <a:ext cx="244144" cy="1783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39</a:t>
            </a:r>
          </a:p>
        </p:txBody>
      </p:sp>
      <p:sp>
        <p:nvSpPr>
          <p:cNvPr id="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0" y="1600200"/>
            <a:ext cx="7281545" cy="202057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3366"/>
                </a:solidFill>
                <a:latin typeface="Calibri"/>
              </a:rPr>
              <a:t>SST k-ω Model Validation: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 Displays excellent predictive accuracy for turbulent pipe flow at Re = 10,000, validating within a 5% error margin against Haaland's empirical correlation.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3366"/>
                </a:solidFill>
                <a:latin typeface="Calibri"/>
              </a:rPr>
              <a:t>Turbulence Model Comparison: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 The Realizable k-ε (RKE) model yields a larger deviation (~11% error) compared to the SST k-ω model under identical mesh parameters.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3366"/>
                </a:solidFill>
                <a:latin typeface="Calibri"/>
              </a:rPr>
              <a:t>Near-Wall Grid Resolution: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 Resolving the viscous sublayer (y+ ≈ 1) is critical for capturing steep velocity gradients and predicting skin friction coefficients accurately.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3366"/>
                </a:solidFill>
                <a:latin typeface="Calibri"/>
              </a:rPr>
              <a:t>Grid Convergence: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 Mesh independence is established at the medium mesh level (72,000 cells), with no significant change in bulk parameters compared to the fine mesh (142,875 cells).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03366"/>
                </a:solidFill>
                <a:latin typeface="Calibri"/>
              </a:rPr>
              <a:t>Solver &amp; Mesh Portability:</a:t>
            </a:r>
            <a:r>
              <a:rPr sz="1600" b="0" dirty="0">
                <a:solidFill>
                  <a:srgbClr val="000000"/>
                </a:solidFill>
                <a:latin typeface="Calibri"/>
              </a:rPr>
              <a:t> Excellent agreement is observed between ANSYS Workbench and ICEMCFD meshes, demonstrating numerical robustness across different meshing platforms.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07316" y="6601053"/>
            <a:ext cx="244144" cy="1783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40</a:t>
            </a:r>
          </a:p>
        </p:txBody>
      </p:sp>
      <p:sp>
        <p:nvSpPr>
          <p:cNvPr id="5" name="CustomFooter"/>
          <p:cNvSpPr txBox="1"/>
          <p:nvPr/>
        </p:nvSpPr>
        <p:spPr>
          <a:xfrm>
            <a:off x="68580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808080"/>
                </a:solidFill>
                <a:latin typeface="Calibri"/>
              </a:rPr>
              <a:t>CFD Study of Turbulent Pipe Flow  |  Prashant Kamble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2576</Words>
  <Application>Microsoft Office PowerPoint</Application>
  <PresentationFormat>Widescreen</PresentationFormat>
  <Paragraphs>431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Arial MT</vt:lpstr>
      <vt:lpstr>Calibri</vt:lpstr>
      <vt:lpstr>Calibri Light</vt:lpstr>
      <vt:lpstr>Cambria</vt:lpstr>
      <vt:lpstr>Cambria Math</vt:lpstr>
      <vt:lpstr>Microsoft Sans Serif</vt:lpstr>
      <vt:lpstr>Times New Roman</vt:lpstr>
      <vt:lpstr>Office Theme</vt:lpstr>
      <vt:lpstr>CFD Study &amp; Validation of Turbulent Pipe Flow</vt:lpstr>
      <vt:lpstr>Problem Description</vt:lpstr>
      <vt:lpstr>Turbulent Pipe Flow - Theory</vt:lpstr>
      <vt:lpstr>Turbulent Pipe Flow – Theory</vt:lpstr>
      <vt:lpstr>Analytical and semi-empirical approach</vt:lpstr>
      <vt:lpstr>Analytical and semi-empirical approach</vt:lpstr>
      <vt:lpstr>Turbulent Velocity Profile</vt:lpstr>
      <vt:lpstr>Turbulent Velocity Profile</vt:lpstr>
      <vt:lpstr>Turbulent Velocity Profile</vt:lpstr>
      <vt:lpstr>Ratio of umean and umax and value of n</vt:lpstr>
      <vt:lpstr>Analytical/Semi Empirical Velocity Profile</vt:lpstr>
      <vt:lpstr>Geometry</vt:lpstr>
      <vt:lpstr>Meshing</vt:lpstr>
      <vt:lpstr>Meshing</vt:lpstr>
      <vt:lpstr>Meshing</vt:lpstr>
      <vt:lpstr>Meshing</vt:lpstr>
      <vt:lpstr>Meshing</vt:lpstr>
      <vt:lpstr>Meshing</vt:lpstr>
      <vt:lpstr>Meshing</vt:lpstr>
      <vt:lpstr>Results</vt:lpstr>
      <vt:lpstr>Results</vt:lpstr>
      <vt:lpstr>Results</vt:lpstr>
      <vt:lpstr>Velocity profile with Medium Mesh Y+ = 1, SST model</vt:lpstr>
      <vt:lpstr>Mesh independence Study</vt:lpstr>
      <vt:lpstr>Velocity profile at Z = 14 m for three meshes</vt:lpstr>
      <vt:lpstr>Axial velocity profile for three meshes</vt:lpstr>
      <vt:lpstr>Pressure drop for three meshes</vt:lpstr>
      <vt:lpstr>Velocity Vectors</vt:lpstr>
      <vt:lpstr>Turbulence model study</vt:lpstr>
      <vt:lpstr>Y+ effect on results</vt:lpstr>
      <vt:lpstr>ANSYS Workbench Mesh and ICEMCFD Mesh</vt:lpstr>
      <vt:lpstr>Y plus graph for both meshes</vt:lpstr>
      <vt:lpstr>Effect of different meshing Codes</vt:lpstr>
      <vt:lpstr>Radial velocity profile comparison</vt:lpstr>
      <vt:lpstr>Center line velocity</vt:lpstr>
      <vt:lpstr>CFD with ICEMCFD Hexa Meshing</vt:lpstr>
      <vt:lpstr>Hexa Mesh in ICEMCFD</vt:lpstr>
      <vt:lpstr>Comparison of Coefficient of Friction</vt:lpstr>
      <vt:lpstr>Conclusion: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Unsteady CFD in ANSYS Fluent 16</dc:title>
  <dc:creator>Sijal</dc:creator>
  <cp:lastModifiedBy>best</cp:lastModifiedBy>
  <cp:revision>5</cp:revision>
  <dcterms:created xsi:type="dcterms:W3CDTF">2026-08-08T11:05:14Z</dcterms:created>
  <dcterms:modified xsi:type="dcterms:W3CDTF">2026-08-08T12:10:26Z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2025-10-03T00:00:00Z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2026-08-08T00:00:00Z</vt:filetime>
  </property>
  <property fmtid="{D5CDD505-2E9C-101B-9397-08002B2CF9AE}" pid="6" name="Producer">
    <vt:lpwstr>Microsoft® PowerPoint® 2016</vt:lpwstr>
  </property>
</Properties>
</file>